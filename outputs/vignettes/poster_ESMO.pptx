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3"/>
  </p:notesMasterIdLst>
  <p:sldIdLst>
    <p:sldId id="256" r:id="rId2"/>
  </p:sldIdLst>
  <p:sldSz cx="51120675" cy="313213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16101" userDrawn="1">
          <p15:clr>
            <a:srgbClr val="A4A3A4"/>
          </p15:clr>
        </p15:guide>
        <p15:guide id="3" orient="horz" pos="1925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93C8"/>
    <a:srgbClr val="B41672"/>
    <a:srgbClr val="00AEEF"/>
    <a:srgbClr val="84ABD9"/>
    <a:srgbClr val="00B8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ddels stil 2 – uthevin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4997"/>
    <p:restoredTop sz="95055"/>
  </p:normalViewPr>
  <p:slideViewPr>
    <p:cSldViewPr snapToGrid="0" snapToObjects="1">
      <p:cViewPr varScale="1">
        <p:scale>
          <a:sx n="33" d="100"/>
          <a:sy n="33" d="100"/>
        </p:scale>
        <p:origin x="2214" y="114"/>
      </p:cViewPr>
      <p:guideLst>
        <p:guide pos="16101"/>
        <p:guide orient="horz" pos="1925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Plassholder for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CEAEC2-C692-4B46-978F-109B22A150D2}" type="datetimeFigureOut">
              <a:rPr lang="en-US" smtClean="0"/>
              <a:t>9/18/2026</a:t>
            </a:fld>
            <a:endParaRPr lang="en-US" dirty="0"/>
          </a:p>
        </p:txBody>
      </p:sp>
      <p:sp>
        <p:nvSpPr>
          <p:cNvPr id="4" name="Plassholder for lysbilde 3"/>
          <p:cNvSpPr>
            <a:spLocks noGrp="1" noRot="1" noChangeAspect="1"/>
          </p:cNvSpPr>
          <p:nvPr>
            <p:ph type="sldImg" idx="2"/>
          </p:nvPr>
        </p:nvSpPr>
        <p:spPr>
          <a:xfrm>
            <a:off x="911225" y="1143000"/>
            <a:ext cx="503555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Plassholder for nota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endParaRPr lang="en-US"/>
          </a:p>
        </p:txBody>
      </p:sp>
      <p:sp>
        <p:nvSpPr>
          <p:cNvPr id="6" name="Plassholder for bunn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Plassholder for lysbil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F9ECD2-5647-1F4F-BF62-73CAE4D174AC}" type="slidenum">
              <a:rPr lang="en-US" smtClean="0"/>
              <a:t>‹#›</a:t>
            </a:fld>
            <a:endParaRPr lang="en-US" dirty="0"/>
          </a:p>
        </p:txBody>
      </p:sp>
    </p:spTree>
    <p:extLst>
      <p:ext uri="{BB962C8B-B14F-4D97-AF65-F5344CB8AC3E}">
        <p14:creationId xmlns:p14="http://schemas.microsoft.com/office/powerpoint/2010/main" val="2631319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ssholder for lysbilde 1"/>
          <p:cNvSpPr>
            <a:spLocks noGrp="1" noRot="1" noChangeAspect="1"/>
          </p:cNvSpPr>
          <p:nvPr>
            <p:ph type="sldImg"/>
          </p:nvPr>
        </p:nvSpPr>
        <p:spPr>
          <a:xfrm>
            <a:off x="911225" y="1143000"/>
            <a:ext cx="5035550" cy="3086100"/>
          </a:xfrm>
        </p:spPr>
        <p:txBody>
          <a:bodyPr/>
          <a:lstStyle/>
          <a:p>
            <a:endParaRPr lang="nb-NO" dirty="0"/>
          </a:p>
        </p:txBody>
      </p:sp>
      <p:sp>
        <p:nvSpPr>
          <p:cNvPr id="3" name="Plassholder for notater 2"/>
          <p:cNvSpPr>
            <a:spLocks noGrp="1"/>
          </p:cNvSpPr>
          <p:nvPr>
            <p:ph type="body" idx="1"/>
          </p:nvPr>
        </p:nvSpPr>
        <p:spPr/>
        <p:txBody>
          <a:bodyPr/>
          <a:lstStyle/>
          <a:p>
            <a:endParaRPr lang="en-US" dirty="0"/>
          </a:p>
        </p:txBody>
      </p:sp>
      <p:sp>
        <p:nvSpPr>
          <p:cNvPr id="4" name="Plassholder for lysbildenummer 3"/>
          <p:cNvSpPr>
            <a:spLocks noGrp="1"/>
          </p:cNvSpPr>
          <p:nvPr>
            <p:ph type="sldNum" sz="quarter" idx="5"/>
          </p:nvPr>
        </p:nvSpPr>
        <p:spPr/>
        <p:txBody>
          <a:bodyPr/>
          <a:lstStyle/>
          <a:p>
            <a:fld id="{87F9ECD2-5647-1F4F-BF62-73CAE4D174AC}" type="slidenum">
              <a:rPr lang="en-US" smtClean="0"/>
              <a:t>1</a:t>
            </a:fld>
            <a:endParaRPr lang="en-US" dirty="0"/>
          </a:p>
        </p:txBody>
      </p:sp>
    </p:spTree>
    <p:extLst>
      <p:ext uri="{BB962C8B-B14F-4D97-AF65-F5344CB8AC3E}">
        <p14:creationId xmlns:p14="http://schemas.microsoft.com/office/powerpoint/2010/main" val="5348022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390085" y="5125977"/>
            <a:ext cx="38340506" cy="10904479"/>
          </a:xfrm>
        </p:spPr>
        <p:txBody>
          <a:bodyPr anchor="b"/>
          <a:lstStyle>
            <a:lvl1pPr algn="ctr">
              <a:defRPr sz="25158"/>
            </a:lvl1pPr>
          </a:lstStyle>
          <a:p>
            <a:r>
              <a:rPr lang="en-US"/>
              <a:t>Click to edit Master title style</a:t>
            </a:r>
            <a:endParaRPr lang="en-US" dirty="0"/>
          </a:p>
        </p:txBody>
      </p:sp>
      <p:sp>
        <p:nvSpPr>
          <p:cNvPr id="3" name="Subtitle 2"/>
          <p:cNvSpPr>
            <a:spLocks noGrp="1"/>
          </p:cNvSpPr>
          <p:nvPr>
            <p:ph type="subTitle" idx="1"/>
          </p:nvPr>
        </p:nvSpPr>
        <p:spPr>
          <a:xfrm>
            <a:off x="6390085" y="16450974"/>
            <a:ext cx="38340506" cy="7562080"/>
          </a:xfrm>
        </p:spPr>
        <p:txBody>
          <a:bodyPr/>
          <a:lstStyle>
            <a:lvl1pPr marL="0" indent="0" algn="ctr">
              <a:buNone/>
              <a:defRPr sz="10063"/>
            </a:lvl1pPr>
            <a:lvl2pPr marL="1917040" indent="0" algn="ctr">
              <a:buNone/>
              <a:defRPr sz="8386"/>
            </a:lvl2pPr>
            <a:lvl3pPr marL="3834079" indent="0" algn="ctr">
              <a:buNone/>
              <a:defRPr sz="7547"/>
            </a:lvl3pPr>
            <a:lvl4pPr marL="5751119" indent="0" algn="ctr">
              <a:buNone/>
              <a:defRPr sz="6709"/>
            </a:lvl4pPr>
            <a:lvl5pPr marL="7668158" indent="0" algn="ctr">
              <a:buNone/>
              <a:defRPr sz="6709"/>
            </a:lvl5pPr>
            <a:lvl6pPr marL="9585198" indent="0" algn="ctr">
              <a:buNone/>
              <a:defRPr sz="6709"/>
            </a:lvl6pPr>
            <a:lvl7pPr marL="11502238" indent="0" algn="ctr">
              <a:buNone/>
              <a:defRPr sz="6709"/>
            </a:lvl7pPr>
            <a:lvl8pPr marL="13419277" indent="0" algn="ctr">
              <a:buNone/>
              <a:defRPr sz="6709"/>
            </a:lvl8pPr>
            <a:lvl9pPr marL="15336317" indent="0" algn="ctr">
              <a:buNone/>
              <a:defRPr sz="6709"/>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19653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9544323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87921" y="7808597"/>
            <a:ext cx="44091582" cy="13028820"/>
          </a:xfrm>
        </p:spPr>
        <p:txBody>
          <a:bodyPr anchor="b"/>
          <a:lstStyle>
            <a:lvl1pPr>
              <a:defRPr sz="25158"/>
            </a:lvl1pPr>
          </a:lstStyle>
          <a:p>
            <a:r>
              <a:rPr lang="en-US"/>
              <a:t>Click to edit Master title style</a:t>
            </a:r>
            <a:endParaRPr lang="en-US" dirty="0"/>
          </a:p>
        </p:txBody>
      </p:sp>
      <p:sp>
        <p:nvSpPr>
          <p:cNvPr id="3" name="Text Placeholder 2"/>
          <p:cNvSpPr>
            <a:spLocks noGrp="1"/>
          </p:cNvSpPr>
          <p:nvPr>
            <p:ph type="body" idx="1"/>
          </p:nvPr>
        </p:nvSpPr>
        <p:spPr>
          <a:xfrm>
            <a:off x="3487921" y="20960675"/>
            <a:ext cx="44091582" cy="6851548"/>
          </a:xfrm>
        </p:spPr>
        <p:txBody>
          <a:bodyPr/>
          <a:lstStyle>
            <a:lvl1pPr marL="0" indent="0">
              <a:buNone/>
              <a:defRPr sz="10063">
                <a:solidFill>
                  <a:schemeClr val="tx1">
                    <a:tint val="75000"/>
                  </a:schemeClr>
                </a:solidFill>
              </a:defRPr>
            </a:lvl1pPr>
            <a:lvl2pPr marL="1917040" indent="0">
              <a:buNone/>
              <a:defRPr sz="8386">
                <a:solidFill>
                  <a:schemeClr val="tx1">
                    <a:tint val="75000"/>
                  </a:schemeClr>
                </a:solidFill>
              </a:defRPr>
            </a:lvl2pPr>
            <a:lvl3pPr marL="3834079" indent="0">
              <a:buNone/>
              <a:defRPr sz="7547">
                <a:solidFill>
                  <a:schemeClr val="tx1">
                    <a:tint val="75000"/>
                  </a:schemeClr>
                </a:solidFill>
              </a:defRPr>
            </a:lvl3pPr>
            <a:lvl4pPr marL="5751119" indent="0">
              <a:buNone/>
              <a:defRPr sz="6709">
                <a:solidFill>
                  <a:schemeClr val="tx1">
                    <a:tint val="75000"/>
                  </a:schemeClr>
                </a:solidFill>
              </a:defRPr>
            </a:lvl4pPr>
            <a:lvl5pPr marL="7668158" indent="0">
              <a:buNone/>
              <a:defRPr sz="6709">
                <a:solidFill>
                  <a:schemeClr val="tx1">
                    <a:tint val="75000"/>
                  </a:schemeClr>
                </a:solidFill>
              </a:defRPr>
            </a:lvl5pPr>
            <a:lvl6pPr marL="9585198" indent="0">
              <a:buNone/>
              <a:defRPr sz="6709">
                <a:solidFill>
                  <a:schemeClr val="tx1">
                    <a:tint val="75000"/>
                  </a:schemeClr>
                </a:solidFill>
              </a:defRPr>
            </a:lvl6pPr>
            <a:lvl7pPr marL="11502238" indent="0">
              <a:buNone/>
              <a:defRPr sz="6709">
                <a:solidFill>
                  <a:schemeClr val="tx1">
                    <a:tint val="75000"/>
                  </a:schemeClr>
                </a:solidFill>
              </a:defRPr>
            </a:lvl7pPr>
            <a:lvl8pPr marL="13419277" indent="0">
              <a:buNone/>
              <a:defRPr sz="6709">
                <a:solidFill>
                  <a:schemeClr val="tx1">
                    <a:tint val="75000"/>
                  </a:schemeClr>
                </a:solidFill>
              </a:defRPr>
            </a:lvl8pPr>
            <a:lvl9pPr marL="15336317" indent="0">
              <a:buNone/>
              <a:defRPr sz="6709">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1359208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514546" y="8337866"/>
            <a:ext cx="21726287" cy="19873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5879842" y="8337866"/>
            <a:ext cx="21726287" cy="19873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649038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521205" y="1667576"/>
            <a:ext cx="44091582" cy="6054018"/>
          </a:xfrm>
        </p:spPr>
        <p:txBody>
          <a:bodyPr/>
          <a:lstStyle/>
          <a:p>
            <a:r>
              <a:rPr lang="en-US"/>
              <a:t>Click to edit Master title style</a:t>
            </a:r>
            <a:endParaRPr lang="en-US" dirty="0"/>
          </a:p>
        </p:txBody>
      </p:sp>
      <p:sp>
        <p:nvSpPr>
          <p:cNvPr id="3" name="Text Placeholder 2"/>
          <p:cNvSpPr>
            <a:spLocks noGrp="1"/>
          </p:cNvSpPr>
          <p:nvPr>
            <p:ph type="body" idx="1"/>
          </p:nvPr>
        </p:nvSpPr>
        <p:spPr>
          <a:xfrm>
            <a:off x="3521207" y="7678089"/>
            <a:ext cx="21626440" cy="3762913"/>
          </a:xfrm>
        </p:spPr>
        <p:txBody>
          <a:bodyPr anchor="b"/>
          <a:lstStyle>
            <a:lvl1pPr marL="0" indent="0">
              <a:buNone/>
              <a:defRPr sz="10063" b="1"/>
            </a:lvl1pPr>
            <a:lvl2pPr marL="1917040" indent="0">
              <a:buNone/>
              <a:defRPr sz="8386" b="1"/>
            </a:lvl2pPr>
            <a:lvl3pPr marL="3834079" indent="0">
              <a:buNone/>
              <a:defRPr sz="7547" b="1"/>
            </a:lvl3pPr>
            <a:lvl4pPr marL="5751119" indent="0">
              <a:buNone/>
              <a:defRPr sz="6709" b="1"/>
            </a:lvl4pPr>
            <a:lvl5pPr marL="7668158" indent="0">
              <a:buNone/>
              <a:defRPr sz="6709" b="1"/>
            </a:lvl5pPr>
            <a:lvl6pPr marL="9585198" indent="0">
              <a:buNone/>
              <a:defRPr sz="6709" b="1"/>
            </a:lvl6pPr>
            <a:lvl7pPr marL="11502238" indent="0">
              <a:buNone/>
              <a:defRPr sz="6709" b="1"/>
            </a:lvl7pPr>
            <a:lvl8pPr marL="13419277" indent="0">
              <a:buNone/>
              <a:defRPr sz="6709" b="1"/>
            </a:lvl8pPr>
            <a:lvl9pPr marL="15336317" indent="0">
              <a:buNone/>
              <a:defRPr sz="6709" b="1"/>
            </a:lvl9pPr>
          </a:lstStyle>
          <a:p>
            <a:pPr lvl="0"/>
            <a:r>
              <a:rPr lang="en-US"/>
              <a:t>Click to edit Master text styles</a:t>
            </a:r>
          </a:p>
        </p:txBody>
      </p:sp>
      <p:sp>
        <p:nvSpPr>
          <p:cNvPr id="4" name="Content Placeholder 3"/>
          <p:cNvSpPr>
            <a:spLocks noGrp="1"/>
          </p:cNvSpPr>
          <p:nvPr>
            <p:ph sz="half" idx="2"/>
          </p:nvPr>
        </p:nvSpPr>
        <p:spPr>
          <a:xfrm>
            <a:off x="3521207" y="11441002"/>
            <a:ext cx="21626440" cy="168279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5879842" y="7678089"/>
            <a:ext cx="21732945" cy="3762913"/>
          </a:xfrm>
        </p:spPr>
        <p:txBody>
          <a:bodyPr anchor="b"/>
          <a:lstStyle>
            <a:lvl1pPr marL="0" indent="0">
              <a:buNone/>
              <a:defRPr sz="10063" b="1"/>
            </a:lvl1pPr>
            <a:lvl2pPr marL="1917040" indent="0">
              <a:buNone/>
              <a:defRPr sz="8386" b="1"/>
            </a:lvl2pPr>
            <a:lvl3pPr marL="3834079" indent="0">
              <a:buNone/>
              <a:defRPr sz="7547" b="1"/>
            </a:lvl3pPr>
            <a:lvl4pPr marL="5751119" indent="0">
              <a:buNone/>
              <a:defRPr sz="6709" b="1"/>
            </a:lvl4pPr>
            <a:lvl5pPr marL="7668158" indent="0">
              <a:buNone/>
              <a:defRPr sz="6709" b="1"/>
            </a:lvl5pPr>
            <a:lvl6pPr marL="9585198" indent="0">
              <a:buNone/>
              <a:defRPr sz="6709" b="1"/>
            </a:lvl6pPr>
            <a:lvl7pPr marL="11502238" indent="0">
              <a:buNone/>
              <a:defRPr sz="6709" b="1"/>
            </a:lvl7pPr>
            <a:lvl8pPr marL="13419277" indent="0">
              <a:buNone/>
              <a:defRPr sz="6709" b="1"/>
            </a:lvl8pPr>
            <a:lvl9pPr marL="15336317" indent="0">
              <a:buNone/>
              <a:defRPr sz="6709" b="1"/>
            </a:lvl9pPr>
          </a:lstStyle>
          <a:p>
            <a:pPr lvl="0"/>
            <a:r>
              <a:rPr lang="en-US"/>
              <a:t>Click to edit Master text styles</a:t>
            </a:r>
          </a:p>
        </p:txBody>
      </p:sp>
      <p:sp>
        <p:nvSpPr>
          <p:cNvPr id="6" name="Content Placeholder 5"/>
          <p:cNvSpPr>
            <a:spLocks noGrp="1"/>
          </p:cNvSpPr>
          <p:nvPr>
            <p:ph sz="quarter" idx="4"/>
          </p:nvPr>
        </p:nvSpPr>
        <p:spPr>
          <a:xfrm>
            <a:off x="25879842" y="11441002"/>
            <a:ext cx="21732945" cy="168279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39866416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9643012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3246327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521207" y="2088092"/>
            <a:ext cx="16487747" cy="7308321"/>
          </a:xfrm>
        </p:spPr>
        <p:txBody>
          <a:bodyPr anchor="b"/>
          <a:lstStyle>
            <a:lvl1pPr>
              <a:defRPr sz="13418"/>
            </a:lvl1pPr>
          </a:lstStyle>
          <a:p>
            <a:r>
              <a:rPr lang="en-US"/>
              <a:t>Click to edit Master title style</a:t>
            </a:r>
            <a:endParaRPr lang="en-US" dirty="0"/>
          </a:p>
        </p:txBody>
      </p:sp>
      <p:sp>
        <p:nvSpPr>
          <p:cNvPr id="3" name="Content Placeholder 2"/>
          <p:cNvSpPr>
            <a:spLocks noGrp="1"/>
          </p:cNvSpPr>
          <p:nvPr>
            <p:ph idx="1"/>
          </p:nvPr>
        </p:nvSpPr>
        <p:spPr>
          <a:xfrm>
            <a:off x="21732945" y="4509700"/>
            <a:ext cx="25879842" cy="22258477"/>
          </a:xfrm>
        </p:spPr>
        <p:txBody>
          <a:bodyPr/>
          <a:lstStyle>
            <a:lvl1pPr>
              <a:defRPr sz="13418"/>
            </a:lvl1pPr>
            <a:lvl2pPr>
              <a:defRPr sz="11740"/>
            </a:lvl2pPr>
            <a:lvl3pPr>
              <a:defRPr sz="10063"/>
            </a:lvl3pPr>
            <a:lvl4pPr>
              <a:defRPr sz="8386"/>
            </a:lvl4pPr>
            <a:lvl5pPr>
              <a:defRPr sz="8386"/>
            </a:lvl5pPr>
            <a:lvl6pPr>
              <a:defRPr sz="8386"/>
            </a:lvl6pPr>
            <a:lvl7pPr>
              <a:defRPr sz="8386"/>
            </a:lvl7pPr>
            <a:lvl8pPr>
              <a:defRPr sz="8386"/>
            </a:lvl8pPr>
            <a:lvl9pPr>
              <a:defRPr sz="838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521207" y="9396413"/>
            <a:ext cx="16487747" cy="17408016"/>
          </a:xfrm>
        </p:spPr>
        <p:txBody>
          <a:bodyPr/>
          <a:lstStyle>
            <a:lvl1pPr marL="0" indent="0">
              <a:buNone/>
              <a:defRPr sz="6709"/>
            </a:lvl1pPr>
            <a:lvl2pPr marL="1917040" indent="0">
              <a:buNone/>
              <a:defRPr sz="5870"/>
            </a:lvl2pPr>
            <a:lvl3pPr marL="3834079" indent="0">
              <a:buNone/>
              <a:defRPr sz="5032"/>
            </a:lvl3pPr>
            <a:lvl4pPr marL="5751119" indent="0">
              <a:buNone/>
              <a:defRPr sz="4193"/>
            </a:lvl4pPr>
            <a:lvl5pPr marL="7668158" indent="0">
              <a:buNone/>
              <a:defRPr sz="4193"/>
            </a:lvl5pPr>
            <a:lvl6pPr marL="9585198" indent="0">
              <a:buNone/>
              <a:defRPr sz="4193"/>
            </a:lvl6pPr>
            <a:lvl7pPr marL="11502238" indent="0">
              <a:buNone/>
              <a:defRPr sz="4193"/>
            </a:lvl7pPr>
            <a:lvl8pPr marL="13419277" indent="0">
              <a:buNone/>
              <a:defRPr sz="4193"/>
            </a:lvl8pPr>
            <a:lvl9pPr marL="15336317" indent="0">
              <a:buNone/>
              <a:defRPr sz="4193"/>
            </a:lvl9pPr>
          </a:lstStyle>
          <a:p>
            <a:pPr lvl="0"/>
            <a:r>
              <a:rPr lang="en-US"/>
              <a:t>Click to edit Master text styles</a:t>
            </a:r>
          </a:p>
        </p:txBody>
      </p:sp>
      <p:sp>
        <p:nvSpPr>
          <p:cNvPr id="5" name="Date Placeholder 4"/>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19149007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521207" y="2088092"/>
            <a:ext cx="16487747" cy="7308321"/>
          </a:xfrm>
        </p:spPr>
        <p:txBody>
          <a:bodyPr anchor="b"/>
          <a:lstStyle>
            <a:lvl1pPr>
              <a:defRPr sz="13418"/>
            </a:lvl1pPr>
          </a:lstStyle>
          <a:p>
            <a:r>
              <a:rPr lang="en-US"/>
              <a:t>Click to edit Master title style</a:t>
            </a:r>
            <a:endParaRPr lang="en-US" dirty="0"/>
          </a:p>
        </p:txBody>
      </p:sp>
      <p:sp>
        <p:nvSpPr>
          <p:cNvPr id="3" name="Picture Placeholder 2"/>
          <p:cNvSpPr>
            <a:spLocks noGrp="1" noChangeAspect="1"/>
          </p:cNvSpPr>
          <p:nvPr>
            <p:ph type="pic" idx="1"/>
          </p:nvPr>
        </p:nvSpPr>
        <p:spPr>
          <a:xfrm>
            <a:off x="21732945" y="4509700"/>
            <a:ext cx="25879842" cy="22258477"/>
          </a:xfrm>
        </p:spPr>
        <p:txBody>
          <a:bodyPr anchor="t"/>
          <a:lstStyle>
            <a:lvl1pPr marL="0" indent="0">
              <a:buNone/>
              <a:defRPr sz="13418"/>
            </a:lvl1pPr>
            <a:lvl2pPr marL="1917040" indent="0">
              <a:buNone/>
              <a:defRPr sz="11740"/>
            </a:lvl2pPr>
            <a:lvl3pPr marL="3834079" indent="0">
              <a:buNone/>
              <a:defRPr sz="10063"/>
            </a:lvl3pPr>
            <a:lvl4pPr marL="5751119" indent="0">
              <a:buNone/>
              <a:defRPr sz="8386"/>
            </a:lvl4pPr>
            <a:lvl5pPr marL="7668158" indent="0">
              <a:buNone/>
              <a:defRPr sz="8386"/>
            </a:lvl5pPr>
            <a:lvl6pPr marL="9585198" indent="0">
              <a:buNone/>
              <a:defRPr sz="8386"/>
            </a:lvl6pPr>
            <a:lvl7pPr marL="11502238" indent="0">
              <a:buNone/>
              <a:defRPr sz="8386"/>
            </a:lvl7pPr>
            <a:lvl8pPr marL="13419277" indent="0">
              <a:buNone/>
              <a:defRPr sz="8386"/>
            </a:lvl8pPr>
            <a:lvl9pPr marL="15336317" indent="0">
              <a:buNone/>
              <a:defRPr sz="8386"/>
            </a:lvl9pPr>
          </a:lstStyle>
          <a:p>
            <a:r>
              <a:rPr lang="en-US" dirty="0"/>
              <a:t>Click icon to add picture</a:t>
            </a:r>
          </a:p>
        </p:txBody>
      </p:sp>
      <p:sp>
        <p:nvSpPr>
          <p:cNvPr id="4" name="Text Placeholder 3"/>
          <p:cNvSpPr>
            <a:spLocks noGrp="1"/>
          </p:cNvSpPr>
          <p:nvPr>
            <p:ph type="body" sz="half" idx="2"/>
          </p:nvPr>
        </p:nvSpPr>
        <p:spPr>
          <a:xfrm>
            <a:off x="3521207" y="9396413"/>
            <a:ext cx="16487747" cy="17408016"/>
          </a:xfrm>
        </p:spPr>
        <p:txBody>
          <a:bodyPr/>
          <a:lstStyle>
            <a:lvl1pPr marL="0" indent="0">
              <a:buNone/>
              <a:defRPr sz="6709"/>
            </a:lvl1pPr>
            <a:lvl2pPr marL="1917040" indent="0">
              <a:buNone/>
              <a:defRPr sz="5870"/>
            </a:lvl2pPr>
            <a:lvl3pPr marL="3834079" indent="0">
              <a:buNone/>
              <a:defRPr sz="5032"/>
            </a:lvl3pPr>
            <a:lvl4pPr marL="5751119" indent="0">
              <a:buNone/>
              <a:defRPr sz="4193"/>
            </a:lvl4pPr>
            <a:lvl5pPr marL="7668158" indent="0">
              <a:buNone/>
              <a:defRPr sz="4193"/>
            </a:lvl5pPr>
            <a:lvl6pPr marL="9585198" indent="0">
              <a:buNone/>
              <a:defRPr sz="4193"/>
            </a:lvl6pPr>
            <a:lvl7pPr marL="11502238" indent="0">
              <a:buNone/>
              <a:defRPr sz="4193"/>
            </a:lvl7pPr>
            <a:lvl8pPr marL="13419277" indent="0">
              <a:buNone/>
              <a:defRPr sz="4193"/>
            </a:lvl8pPr>
            <a:lvl9pPr marL="15336317" indent="0">
              <a:buNone/>
              <a:defRPr sz="4193"/>
            </a:lvl9pPr>
          </a:lstStyle>
          <a:p>
            <a:pPr lvl="0"/>
            <a:r>
              <a:rPr lang="en-US"/>
              <a:t>Click to edit Master text styles</a:t>
            </a:r>
          </a:p>
        </p:txBody>
      </p:sp>
      <p:sp>
        <p:nvSpPr>
          <p:cNvPr id="5" name="Date Placeholder 4"/>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755378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3309742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6583233" y="1667573"/>
            <a:ext cx="11022896" cy="2654341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514547" y="1667573"/>
            <a:ext cx="32429678" cy="2654341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8157164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14547" y="1667576"/>
            <a:ext cx="44091582" cy="605401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514547" y="8337866"/>
            <a:ext cx="44091582" cy="198731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514546" y="29030277"/>
            <a:ext cx="11502152" cy="1667573"/>
          </a:xfrm>
          <a:prstGeom prst="rect">
            <a:avLst/>
          </a:prstGeom>
        </p:spPr>
        <p:txBody>
          <a:bodyPr vert="horz" lIns="91440" tIns="45720" rIns="91440" bIns="45720" rtlCol="0" anchor="ctr"/>
          <a:lstStyle>
            <a:lvl1pPr algn="l">
              <a:defRPr sz="5032">
                <a:solidFill>
                  <a:schemeClr val="tx1">
                    <a:tint val="75000"/>
                  </a:schemeClr>
                </a:solidFill>
              </a:defRPr>
            </a:lvl1pPr>
          </a:lstStyle>
          <a:p>
            <a:fld id="{EDF32165-6009-0A44-BE1F-48670E89FB19}" type="datetimeFigureOut">
              <a:rPr lang="en-US" smtClean="0"/>
              <a:t>9/18/2026</a:t>
            </a:fld>
            <a:endParaRPr lang="en-US" dirty="0"/>
          </a:p>
        </p:txBody>
      </p:sp>
      <p:sp>
        <p:nvSpPr>
          <p:cNvPr id="5" name="Footer Placeholder 4"/>
          <p:cNvSpPr>
            <a:spLocks noGrp="1"/>
          </p:cNvSpPr>
          <p:nvPr>
            <p:ph type="ftr" sz="quarter" idx="3"/>
          </p:nvPr>
        </p:nvSpPr>
        <p:spPr>
          <a:xfrm>
            <a:off x="16933724" y="29030277"/>
            <a:ext cx="17253228" cy="1667573"/>
          </a:xfrm>
          <a:prstGeom prst="rect">
            <a:avLst/>
          </a:prstGeom>
        </p:spPr>
        <p:txBody>
          <a:bodyPr vert="horz" lIns="91440" tIns="45720" rIns="91440" bIns="45720" rtlCol="0" anchor="ctr"/>
          <a:lstStyle>
            <a:lvl1pPr algn="ctr">
              <a:defRPr sz="5032">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36103977" y="29030277"/>
            <a:ext cx="11502152" cy="1667573"/>
          </a:xfrm>
          <a:prstGeom prst="rect">
            <a:avLst/>
          </a:prstGeom>
        </p:spPr>
        <p:txBody>
          <a:bodyPr vert="horz" lIns="91440" tIns="45720" rIns="91440" bIns="45720" rtlCol="0" anchor="ctr"/>
          <a:lstStyle>
            <a:lvl1pPr algn="r">
              <a:defRPr sz="5032">
                <a:solidFill>
                  <a:schemeClr val="tx1">
                    <a:tint val="75000"/>
                  </a:schemeClr>
                </a:solidFill>
              </a:defRPr>
            </a:lvl1pPr>
          </a:lstStyle>
          <a:p>
            <a:fld id="{81B12367-391A-064F-889E-BBBCC6E43CD2}" type="slidenum">
              <a:rPr lang="en-US" smtClean="0"/>
              <a:t>‹#›</a:t>
            </a:fld>
            <a:endParaRPr lang="en-US" dirty="0"/>
          </a:p>
        </p:txBody>
      </p:sp>
    </p:spTree>
    <p:extLst>
      <p:ext uri="{BB962C8B-B14F-4D97-AF65-F5344CB8AC3E}">
        <p14:creationId xmlns:p14="http://schemas.microsoft.com/office/powerpoint/2010/main" val="1575384049"/>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3834079" rtl="0" eaLnBrk="1" latinLnBrk="0" hangingPunct="1">
        <a:lnSpc>
          <a:spcPct val="90000"/>
        </a:lnSpc>
        <a:spcBef>
          <a:spcPct val="0"/>
        </a:spcBef>
        <a:buNone/>
        <a:defRPr sz="18449" kern="1200">
          <a:solidFill>
            <a:schemeClr val="tx1"/>
          </a:solidFill>
          <a:latin typeface="+mj-lt"/>
          <a:ea typeface="+mj-ea"/>
          <a:cs typeface="+mj-cs"/>
        </a:defRPr>
      </a:lvl1pPr>
    </p:titleStyle>
    <p:bodyStyle>
      <a:lvl1pPr marL="958520" indent="-958520" algn="l" defTabSz="3834079" rtl="0" eaLnBrk="1" latinLnBrk="0" hangingPunct="1">
        <a:lnSpc>
          <a:spcPct val="90000"/>
        </a:lnSpc>
        <a:spcBef>
          <a:spcPts val="4193"/>
        </a:spcBef>
        <a:buFont typeface="Arial" panose="020B0604020202020204" pitchFamily="34" charset="0"/>
        <a:buChar char="•"/>
        <a:defRPr sz="11740" kern="1200">
          <a:solidFill>
            <a:schemeClr val="tx1"/>
          </a:solidFill>
          <a:latin typeface="+mn-lt"/>
          <a:ea typeface="+mn-ea"/>
          <a:cs typeface="+mn-cs"/>
        </a:defRPr>
      </a:lvl1pPr>
      <a:lvl2pPr marL="2875559" indent="-958520" algn="l" defTabSz="3834079" rtl="0" eaLnBrk="1" latinLnBrk="0" hangingPunct="1">
        <a:lnSpc>
          <a:spcPct val="90000"/>
        </a:lnSpc>
        <a:spcBef>
          <a:spcPts val="2097"/>
        </a:spcBef>
        <a:buFont typeface="Arial" panose="020B0604020202020204" pitchFamily="34" charset="0"/>
        <a:buChar char="•"/>
        <a:defRPr sz="10063" kern="1200">
          <a:solidFill>
            <a:schemeClr val="tx1"/>
          </a:solidFill>
          <a:latin typeface="+mn-lt"/>
          <a:ea typeface="+mn-ea"/>
          <a:cs typeface="+mn-cs"/>
        </a:defRPr>
      </a:lvl2pPr>
      <a:lvl3pPr marL="4792599" indent="-958520" algn="l" defTabSz="3834079" rtl="0" eaLnBrk="1" latinLnBrk="0" hangingPunct="1">
        <a:lnSpc>
          <a:spcPct val="90000"/>
        </a:lnSpc>
        <a:spcBef>
          <a:spcPts val="2097"/>
        </a:spcBef>
        <a:buFont typeface="Arial" panose="020B0604020202020204" pitchFamily="34" charset="0"/>
        <a:buChar char="•"/>
        <a:defRPr sz="8386" kern="1200">
          <a:solidFill>
            <a:schemeClr val="tx1"/>
          </a:solidFill>
          <a:latin typeface="+mn-lt"/>
          <a:ea typeface="+mn-ea"/>
          <a:cs typeface="+mn-cs"/>
        </a:defRPr>
      </a:lvl3pPr>
      <a:lvl4pPr marL="6709639"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4pPr>
      <a:lvl5pPr marL="8626678"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5pPr>
      <a:lvl6pPr marL="10543718"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6pPr>
      <a:lvl7pPr marL="12460757"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7pPr>
      <a:lvl8pPr marL="14377797"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8pPr>
      <a:lvl9pPr marL="16294837"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9pPr>
    </p:bodyStyle>
    <p:otherStyle>
      <a:defPPr>
        <a:defRPr lang="en-US"/>
      </a:defPPr>
      <a:lvl1pPr marL="0" algn="l" defTabSz="3834079" rtl="0" eaLnBrk="1" latinLnBrk="0" hangingPunct="1">
        <a:defRPr sz="7547" kern="1200">
          <a:solidFill>
            <a:schemeClr val="tx1"/>
          </a:solidFill>
          <a:latin typeface="+mn-lt"/>
          <a:ea typeface="+mn-ea"/>
          <a:cs typeface="+mn-cs"/>
        </a:defRPr>
      </a:lvl1pPr>
      <a:lvl2pPr marL="1917040" algn="l" defTabSz="3834079" rtl="0" eaLnBrk="1" latinLnBrk="0" hangingPunct="1">
        <a:defRPr sz="7547" kern="1200">
          <a:solidFill>
            <a:schemeClr val="tx1"/>
          </a:solidFill>
          <a:latin typeface="+mn-lt"/>
          <a:ea typeface="+mn-ea"/>
          <a:cs typeface="+mn-cs"/>
        </a:defRPr>
      </a:lvl2pPr>
      <a:lvl3pPr marL="3834079" algn="l" defTabSz="3834079" rtl="0" eaLnBrk="1" latinLnBrk="0" hangingPunct="1">
        <a:defRPr sz="7547" kern="1200">
          <a:solidFill>
            <a:schemeClr val="tx1"/>
          </a:solidFill>
          <a:latin typeface="+mn-lt"/>
          <a:ea typeface="+mn-ea"/>
          <a:cs typeface="+mn-cs"/>
        </a:defRPr>
      </a:lvl3pPr>
      <a:lvl4pPr marL="5751119" algn="l" defTabSz="3834079" rtl="0" eaLnBrk="1" latinLnBrk="0" hangingPunct="1">
        <a:defRPr sz="7547" kern="1200">
          <a:solidFill>
            <a:schemeClr val="tx1"/>
          </a:solidFill>
          <a:latin typeface="+mn-lt"/>
          <a:ea typeface="+mn-ea"/>
          <a:cs typeface="+mn-cs"/>
        </a:defRPr>
      </a:lvl4pPr>
      <a:lvl5pPr marL="7668158" algn="l" defTabSz="3834079" rtl="0" eaLnBrk="1" latinLnBrk="0" hangingPunct="1">
        <a:defRPr sz="7547" kern="1200">
          <a:solidFill>
            <a:schemeClr val="tx1"/>
          </a:solidFill>
          <a:latin typeface="+mn-lt"/>
          <a:ea typeface="+mn-ea"/>
          <a:cs typeface="+mn-cs"/>
        </a:defRPr>
      </a:lvl5pPr>
      <a:lvl6pPr marL="9585198" algn="l" defTabSz="3834079" rtl="0" eaLnBrk="1" latinLnBrk="0" hangingPunct="1">
        <a:defRPr sz="7547" kern="1200">
          <a:solidFill>
            <a:schemeClr val="tx1"/>
          </a:solidFill>
          <a:latin typeface="+mn-lt"/>
          <a:ea typeface="+mn-ea"/>
          <a:cs typeface="+mn-cs"/>
        </a:defRPr>
      </a:lvl6pPr>
      <a:lvl7pPr marL="11502238" algn="l" defTabSz="3834079" rtl="0" eaLnBrk="1" latinLnBrk="0" hangingPunct="1">
        <a:defRPr sz="7547" kern="1200">
          <a:solidFill>
            <a:schemeClr val="tx1"/>
          </a:solidFill>
          <a:latin typeface="+mn-lt"/>
          <a:ea typeface="+mn-ea"/>
          <a:cs typeface="+mn-cs"/>
        </a:defRPr>
      </a:lvl7pPr>
      <a:lvl8pPr marL="13419277" algn="l" defTabSz="3834079" rtl="0" eaLnBrk="1" latinLnBrk="0" hangingPunct="1">
        <a:defRPr sz="7547" kern="1200">
          <a:solidFill>
            <a:schemeClr val="tx1"/>
          </a:solidFill>
          <a:latin typeface="+mn-lt"/>
          <a:ea typeface="+mn-ea"/>
          <a:cs typeface="+mn-cs"/>
        </a:defRPr>
      </a:lvl8pPr>
      <a:lvl9pPr marL="15336317" algn="l" defTabSz="3834079" rtl="0" eaLnBrk="1" latinLnBrk="0" hangingPunct="1">
        <a:defRPr sz="754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box"/>
          <p:cNvSpPr/>
          <p:nvPr/>
        </p:nvSpPr>
        <p:spPr>
          <a:xfrm>
            <a:off x="320040" y="283464"/>
            <a:ext cx="50557176" cy="3858768"/>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rtlCol="0" anchor="ctr">
            <a:noAutofit/>
          </a:bodyPr>
          <a:lstStyle/>
          <a:p>
            <a:pPr algn="ctr"/>
            <a:r>
              <a:rPr lang="en-US" sz="6000" b="1" dirty="0">
                <a:latin typeface="Arial" panose="020B0604020202020204" pitchFamily="34" charset="0"/>
                <a:cs typeface="Arial" panose="020B0604020202020204" pitchFamily="34" charset="0"/>
              </a:rPr>
              <a:t>Biomarker signals in MSS/pMMR metastatic colorectal cancer (mCRC) are predominantly prognostic, not predictive</a:t>
            </a:r>
          </a:p>
          <a:p>
            <a:pPr algn="ctr">
              <a:spcAft>
                <a:spcPts val="600"/>
              </a:spcAft>
            </a:pPr>
            <a:r>
              <a:rPr lang="en-US" sz="6000" b="1" dirty="0">
                <a:latin typeface="Arial" panose="020B0604020202020204" pitchFamily="34" charset="0"/>
                <a:cs typeface="Arial" panose="020B0604020202020204" pitchFamily="34" charset="0"/>
              </a:rPr>
              <a:t>– lessons from the randomized phase-2 METIMMOX trial</a:t>
            </a:r>
          </a:p>
          <a:p>
            <a:pPr algn="ctr">
              <a:spcAft>
                <a:spcPts val="400"/>
              </a:spcAft>
            </a:pPr>
            <a:r>
              <a:rPr lang="en-US" sz="4400" dirty="0">
                <a:latin typeface="Arial" panose="020B0604020202020204" pitchFamily="34" charset="0"/>
                <a:cs typeface="Arial" panose="020B0604020202020204" pitchFamily="34" charset="0"/>
              </a:rPr>
              <a:t>Benjamin P. Geisler</a:t>
            </a:r>
            <a:r>
              <a:rPr lang="en-US" sz="4400" baseline="30000" dirty="0">
                <a:latin typeface="Arial" panose="020B0604020202020204" pitchFamily="34" charset="0"/>
                <a:cs typeface="Arial" panose="020B0604020202020204" pitchFamily="34" charset="0"/>
              </a:rPr>
              <a:t>1,2@</a:t>
            </a:r>
            <a:r>
              <a:rPr lang="en-US" sz="4400" dirty="0">
                <a:latin typeface="Arial" panose="020B0604020202020204" pitchFamily="34" charset="0"/>
                <a:cs typeface="Arial" panose="020B0604020202020204" pitchFamily="34" charset="0"/>
              </a:rPr>
              <a:t xml:space="preserve">, </a:t>
            </a:r>
            <a:r>
              <a:rPr lang="en-US" sz="4400" dirty="0">
                <a:latin typeface="Arial" panose="020B0604020202020204" pitchFamily="34" charset="0"/>
                <a:cs typeface="Arial" panose="020B0604020202020204" pitchFamily="34" charset="0"/>
              </a:rPr>
              <a:t>Megan Othus</a:t>
            </a:r>
            <a:r>
              <a:rPr lang="en-US" sz="4400" baseline="30000" dirty="0">
                <a:latin typeface="Arial" panose="020B0604020202020204" pitchFamily="34" charset="0"/>
                <a:cs typeface="Arial" panose="020B0604020202020204" pitchFamily="34" charset="0"/>
              </a:rPr>
              <a:t>3</a:t>
            </a:r>
            <a:r>
              <a:rPr lang="en-US" sz="4400" dirty="0">
                <a:latin typeface="Arial" panose="020B0604020202020204" pitchFamily="34" charset="0"/>
                <a:cs typeface="Arial" panose="020B0604020202020204" pitchFamily="34" charset="0"/>
              </a:rPr>
              <a:t xml:space="preserve">, </a:t>
            </a:r>
            <a:r>
              <a:rPr lang="en-US" sz="4400" dirty="0">
                <a:latin typeface="Arial" panose="020B0604020202020204" pitchFamily="34" charset="0"/>
                <a:cs typeface="Arial" panose="020B0604020202020204" pitchFamily="34" charset="0"/>
              </a:rPr>
              <a:t>Sebastian Meltzer</a:t>
            </a:r>
            <a:r>
              <a:rPr lang="en-US" sz="4400" baseline="30000" dirty="0">
                <a:latin typeface="Arial" panose="020B0604020202020204" pitchFamily="34" charset="0"/>
                <a:cs typeface="Arial" panose="020B0604020202020204" pitchFamily="34" charset="0"/>
              </a:rPr>
              <a:t>2</a:t>
            </a:r>
            <a:r>
              <a:rPr lang="en-US" sz="4400" dirty="0">
                <a:latin typeface="Arial" panose="020B0604020202020204" pitchFamily="34" charset="0"/>
                <a:cs typeface="Arial" panose="020B0604020202020204" pitchFamily="34" charset="0"/>
              </a:rPr>
              <a:t xml:space="preserve">, </a:t>
            </a:r>
            <a:r>
              <a:rPr lang="en-US" sz="4400" dirty="0">
                <a:latin typeface="Arial" panose="020B0604020202020204" pitchFamily="34" charset="0"/>
                <a:cs typeface="Arial" panose="020B0604020202020204" pitchFamily="34" charset="0"/>
              </a:rPr>
              <a:t>Paula A. Bousquet</a:t>
            </a:r>
            <a:r>
              <a:rPr lang="en-US" sz="4400" baseline="30000" dirty="0">
                <a:latin typeface="Arial" panose="020B0604020202020204" pitchFamily="34" charset="0"/>
                <a:cs typeface="Arial" panose="020B0604020202020204" pitchFamily="34" charset="0"/>
              </a:rPr>
              <a:t>2</a:t>
            </a:r>
            <a:r>
              <a:rPr lang="en-US" sz="4400" dirty="0">
                <a:latin typeface="Arial" panose="020B0604020202020204" pitchFamily="34" charset="0"/>
                <a:cs typeface="Arial" panose="020B0604020202020204" pitchFamily="34" charset="0"/>
              </a:rPr>
              <a:t xml:space="preserve">, </a:t>
            </a:r>
            <a:r>
              <a:rPr lang="en-US" sz="4400" dirty="0">
                <a:latin typeface="Arial" panose="020B0604020202020204" pitchFamily="34" charset="0"/>
                <a:cs typeface="Arial" panose="020B0604020202020204" pitchFamily="34" charset="0"/>
              </a:rPr>
              <a:t>Emily A. Burger</a:t>
            </a:r>
            <a:r>
              <a:rPr lang="en-US" sz="4400" baseline="30000" dirty="0">
                <a:latin typeface="Arial" panose="020B0604020202020204" pitchFamily="34" charset="0"/>
                <a:cs typeface="Arial" panose="020B0604020202020204" pitchFamily="34" charset="0"/>
              </a:rPr>
              <a:t>1,4</a:t>
            </a:r>
            <a:r>
              <a:rPr lang="en-US" sz="4400" dirty="0">
                <a:latin typeface="Arial" panose="020B0604020202020204" pitchFamily="34" charset="0"/>
                <a:cs typeface="Arial" panose="020B0604020202020204" pitchFamily="34" charset="0"/>
              </a:rPr>
              <a:t xml:space="preserve">, </a:t>
            </a:r>
            <a:r>
              <a:rPr lang="en-US" sz="4400" dirty="0">
                <a:latin typeface="Arial" panose="020B0604020202020204" pitchFamily="34" charset="0"/>
                <a:cs typeface="Arial" panose="020B0604020202020204" pitchFamily="34" charset="0"/>
              </a:rPr>
              <a:t>Eline Aas</a:t>
            </a:r>
            <a:r>
              <a:rPr lang="en-US" sz="4400" baseline="30000" dirty="0">
                <a:latin typeface="Arial" panose="020B0604020202020204" pitchFamily="34" charset="0"/>
                <a:cs typeface="Arial" panose="020B0604020202020204" pitchFamily="34" charset="0"/>
              </a:rPr>
              <a:t>1,5</a:t>
            </a:r>
            <a:r>
              <a:rPr lang="en-US" sz="4400" dirty="0">
                <a:latin typeface="Arial" panose="020B0604020202020204" pitchFamily="34" charset="0"/>
                <a:cs typeface="Arial" panose="020B0604020202020204" pitchFamily="34" charset="0"/>
              </a:rPr>
              <a:t xml:space="preserve">, </a:t>
            </a:r>
            <a:r>
              <a:rPr lang="en-US" sz="4400" dirty="0">
                <a:latin typeface="Arial" panose="020B0604020202020204" pitchFamily="34" charset="0"/>
                <a:cs typeface="Arial" panose="020B0604020202020204" pitchFamily="34" charset="0"/>
              </a:rPr>
              <a:t>Anne H. Ree</a:t>
            </a:r>
            <a:r>
              <a:rPr lang="en-US" sz="4400" baseline="30000" dirty="0">
                <a:latin typeface="Arial" panose="020B0604020202020204" pitchFamily="34" charset="0"/>
                <a:cs typeface="Arial" panose="020B0604020202020204" pitchFamily="34" charset="0"/>
              </a:rPr>
              <a:t>2,6</a:t>
            </a:r>
          </a:p>
          <a:p>
            <a:pPr marL="2743200" marR="2743200" algn="ctr"/>
            <a:r>
              <a:rPr lang="en-US" sz="3200" baseline="30000" dirty="0">
                <a:latin typeface="Arial" panose="020B0604020202020204" pitchFamily="34" charset="0"/>
                <a:cs typeface="Arial" panose="020B0604020202020204" pitchFamily="34" charset="0"/>
              </a:rPr>
              <a:t>1</a:t>
            </a:r>
            <a:r>
              <a:rPr lang="en-US" sz="3200" dirty="0">
                <a:latin typeface="Arial" panose="020B0604020202020204" pitchFamily="34" charset="0"/>
                <a:cs typeface="Arial" panose="020B0604020202020204" pitchFamily="34" charset="0"/>
              </a:rPr>
              <a:t xml:space="preserve">Department of Health Management and Health Economics, University of Oslo, Oslo, Norway; </a:t>
            </a:r>
            <a:r>
              <a:rPr lang="en-US" sz="3200" baseline="30000" dirty="0">
                <a:latin typeface="Arial" panose="020B0604020202020204" pitchFamily="34" charset="0"/>
                <a:cs typeface="Arial" panose="020B0604020202020204" pitchFamily="34" charset="0"/>
              </a:rPr>
              <a:t>2</a:t>
            </a:r>
            <a:r>
              <a:rPr lang="en-US" sz="3200" dirty="0">
                <a:latin typeface="Arial" panose="020B0604020202020204" pitchFamily="34" charset="0"/>
                <a:cs typeface="Arial" panose="020B0604020202020204" pitchFamily="34" charset="0"/>
              </a:rPr>
              <a:t xml:space="preserve">Department of Oncology, Akershus University Hospital, Lørenskog, Norway; </a:t>
            </a:r>
            <a:r>
              <a:rPr lang="en-US" sz="3200" baseline="30000" dirty="0">
                <a:latin typeface="Arial" panose="020B0604020202020204" pitchFamily="34" charset="0"/>
                <a:cs typeface="Arial" panose="020B0604020202020204" pitchFamily="34" charset="0"/>
              </a:rPr>
              <a:t>3</a:t>
            </a:r>
            <a:r>
              <a:rPr lang="en-US" sz="3200" dirty="0">
                <a:latin typeface="Arial" panose="020B0604020202020204" pitchFamily="34" charset="0"/>
                <a:cs typeface="Arial" panose="020B0604020202020204" pitchFamily="34" charset="0"/>
              </a:rPr>
              <a:t xml:space="preserve">Fred Hutchinson Cancer Center, Seattle WA, United States; </a:t>
            </a:r>
            <a:r>
              <a:rPr lang="en-US" sz="3200" baseline="30000" dirty="0">
                <a:latin typeface="Arial" panose="020B0604020202020204" pitchFamily="34" charset="0"/>
                <a:cs typeface="Arial" panose="020B0604020202020204" pitchFamily="34" charset="0"/>
              </a:rPr>
              <a:t>4</a:t>
            </a:r>
            <a:r>
              <a:rPr lang="en-US" sz="3200" dirty="0">
                <a:latin typeface="Arial" panose="020B0604020202020204" pitchFamily="34" charset="0"/>
                <a:cs typeface="Arial" panose="020B0604020202020204" pitchFamily="34" charset="0"/>
              </a:rPr>
              <a:t xml:space="preserve">Center for Health Decision Science, Harvard T. H. Chan School of Public Health, Boston MA, United States; </a:t>
            </a:r>
            <a:r>
              <a:rPr lang="en-US" sz="3200" baseline="30000" dirty="0">
                <a:latin typeface="Arial" panose="020B0604020202020204" pitchFamily="34" charset="0"/>
                <a:cs typeface="Arial" panose="020B0604020202020204" pitchFamily="34" charset="0"/>
              </a:rPr>
              <a:t>5</a:t>
            </a:r>
            <a:r>
              <a:rPr lang="en-US" sz="3200" dirty="0">
                <a:latin typeface="Arial" panose="020B0604020202020204" pitchFamily="34" charset="0"/>
                <a:cs typeface="Arial" panose="020B0604020202020204" pitchFamily="34" charset="0"/>
              </a:rPr>
              <a:t xml:space="preserve">Division for Health Services, Norwegian Institute of Public Health, Oslo, Norway; </a:t>
            </a:r>
            <a:r>
              <a:rPr lang="en-US" sz="3200" baseline="30000" dirty="0">
                <a:latin typeface="Arial" panose="020B0604020202020204" pitchFamily="34" charset="0"/>
                <a:cs typeface="Arial" panose="020B0604020202020204" pitchFamily="34" charset="0"/>
              </a:rPr>
              <a:t>6</a:t>
            </a:r>
            <a:r>
              <a:rPr lang="en-US" sz="3200" dirty="0">
                <a:latin typeface="Arial" panose="020B0604020202020204" pitchFamily="34" charset="0"/>
                <a:cs typeface="Arial" panose="020B0604020202020204" pitchFamily="34" charset="0"/>
              </a:rPr>
              <a:t>Institute of Clinical Medicine, University of Oslo, Oslo, Norway.</a:t>
            </a:r>
          </a:p>
        </p:txBody>
      </p:sp>
      <p:sp>
        <p:nvSpPr>
          <p:cNvPr id="102" name="Poster number"/>
          <p:cNvSpPr txBox="1"/>
          <p:nvPr/>
        </p:nvSpPr>
        <p:spPr>
          <a:xfrm>
            <a:off x="786384" y="2944368"/>
            <a:ext cx="2651760" cy="1197864"/>
          </a:xfrm>
          <a:prstGeom prst="rect">
            <a:avLst/>
          </a:prstGeom>
          <a:noFill/>
        </p:spPr>
        <p:txBody>
          <a:bodyPr wrap="square" rtlCol="0" anchor="t">
            <a:spAutoFit/>
          </a:bodyPr>
          <a:lstStyle/>
          <a:p>
            <a:r>
              <a:rPr lang="en-US" sz="7200" b="1" dirty="0">
                <a:solidFill>
                  <a:srgbClr val="B41672"/>
                </a:solidFill>
              </a:rPr>
              <a:t>4355P</a:t>
            </a:r>
          </a:p>
        </p:txBody>
      </p:sp>
      <p:sp>
        <p:nvSpPr>
          <p:cNvPr id="103" name="Background header"/>
          <p:cNvSpPr/>
          <p:nvPr/>
        </p:nvSpPr>
        <p:spPr>
          <a:xfrm>
            <a:off x="283464" y="4471416"/>
            <a:ext cx="12188952" cy="987552"/>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6600" b="1" dirty="0">
                <a:solidFill>
                  <a:prstClr val="white"/>
                </a:solidFill>
                <a:latin typeface="Calibri" panose="020F0502020204030204"/>
                <a:ea typeface="+mn-ea"/>
                <a:cs typeface="+mn-cs"/>
              </a:rPr>
              <a:t>Background</a:t>
            </a:r>
          </a:p>
        </p:txBody>
      </p:sp>
      <p:sp>
        <p:nvSpPr>
          <p:cNvPr id="104" name="Results header"/>
          <p:cNvSpPr/>
          <p:nvPr/>
        </p:nvSpPr>
        <p:spPr>
          <a:xfrm>
            <a:off x="12929616" y="4462272"/>
            <a:ext cx="37938456" cy="1005840"/>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6600" b="1" dirty="0">
                <a:solidFill>
                  <a:prstClr val="white"/>
                </a:solidFill>
                <a:latin typeface="Calibri" panose="020F0502020204030204"/>
                <a:ea typeface="+mn-ea"/>
                <a:cs typeface="+mn-cs"/>
              </a:rPr>
              <a:t>Results</a:t>
            </a:r>
          </a:p>
        </p:txBody>
      </p:sp>
      <p:sp>
        <p:nvSpPr>
          <p:cNvPr id="105" name="Background box"/>
          <p:cNvSpPr/>
          <p:nvPr/>
        </p:nvSpPr>
        <p:spPr>
          <a:xfrm>
            <a:off x="365760" y="5751576"/>
            <a:ext cx="12106656" cy="4572000"/>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rtlCol="0" anchor="ctr">
            <a:noAutofit/>
          </a:bodyPr>
          <a:lstStyle/>
          <a:p>
            <a:pPr marL="571500" indent="-571500">
              <a:spcAft>
                <a:spcPts val="1200"/>
              </a:spcAft>
              <a:buFont typeface="Courier New" panose="02070309020205020404" pitchFamily="49" charset="0"/>
              <a:buChar char="o"/>
            </a:pPr>
            <a:r>
              <a:rPr lang="en-US" sz="3200" dirty="0"/>
              <a:t>Immune checkpoint blockade is ineffective in unselected MSS/pMMR mCRC.</a:t>
            </a:r>
            <a:endParaRPr lang="en-US" sz="3200" dirty="0"/>
          </a:p>
          <a:p>
            <a:pPr marL="571500" indent="-571500">
              <a:spcAft>
                <a:spcPts val="1200"/>
              </a:spcAft>
              <a:buFont typeface="Courier New" panose="02070309020205020404" pitchFamily="49" charset="0"/>
              <a:buChar char="o"/>
            </a:pPr>
            <a:r>
              <a:rPr lang="en-US" sz="3200" dirty="0"/>
              <a:t>METIMMOX (randomized phase 2; NCT03388190, EudraCT 2017-001845-29): alternating FLOX + nivolumab vs FLOX alone; identical progression-free survival (PFS).</a:t>
            </a:r>
            <a:endParaRPr lang="en-US" sz="3200" dirty="0"/>
          </a:p>
          <a:p>
            <a:pPr marL="571500" indent="-571500">
              <a:spcAft>
                <a:spcPts val="1200"/>
              </a:spcAft>
              <a:buFont typeface="Courier New" panose="02070309020205020404" pitchFamily="49" charset="0"/>
              <a:buChar char="o"/>
            </a:pPr>
            <a:r>
              <a:rPr lang="en-US" sz="3200" dirty="0"/>
              <a:t>Post hoc subgroup signals (TMB/</a:t>
            </a:r>
            <a:r>
              <a:rPr lang="en-US" sz="3200" i="1" dirty="0"/>
              <a:t>BRAF</a:t>
            </a:r>
            <a:r>
              <a:rPr lang="en-US" sz="3200" dirty="0"/>
              <a:t>, CRP, TLR) conflated prognostic and predictive effects; we separated them in one pre-specified interaction model per endpoint.</a:t>
            </a:r>
            <a:endParaRPr lang="en-US" sz="3200" dirty="0"/>
          </a:p>
        </p:txBody>
      </p:sp>
      <p:sp>
        <p:nvSpPr>
          <p:cNvPr id="106" name="Methods header"/>
          <p:cNvSpPr/>
          <p:nvPr/>
        </p:nvSpPr>
        <p:spPr>
          <a:xfrm>
            <a:off x="283464" y="10597896"/>
            <a:ext cx="12188952" cy="978408"/>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6600" b="1" dirty="0">
                <a:solidFill>
                  <a:prstClr val="white"/>
                </a:solidFill>
                <a:latin typeface="Calibri" panose="020F0502020204030204"/>
                <a:ea typeface="+mn-ea"/>
                <a:cs typeface="+mn-cs"/>
              </a:rPr>
              <a:t>Methods</a:t>
            </a:r>
          </a:p>
        </p:txBody>
      </p:sp>
      <p:sp>
        <p:nvSpPr>
          <p:cNvPr id="107" name="Methods box"/>
          <p:cNvSpPr/>
          <p:nvPr/>
        </p:nvSpPr>
        <p:spPr>
          <a:xfrm>
            <a:off x="329184" y="11832336"/>
            <a:ext cx="12143232" cy="14548104"/>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tIns="109728" rtlCol="0" anchor="t">
            <a:noAutofit/>
          </a:bodyPr>
          <a:lstStyle/>
          <a:p>
            <a:pPr marL="571500" indent="-571500">
              <a:spcAft>
                <a:spcPts val="1200"/>
              </a:spcAft>
              <a:buFont typeface="Courier New" panose="02070309020205020404" pitchFamily="49" charset="0"/>
              <a:buChar char="o"/>
            </a:pPr>
            <a:r>
              <a:rPr lang="en-US" sz="3200" dirty="0"/>
              <a:t>68 complete cases (59 deaths; 50 progression-or-death events; deaths &gt;16 weeks after the last scan censored for PFS).</a:t>
            </a:r>
            <a:endParaRPr lang="en-US" sz="3200" dirty="0"/>
          </a:p>
          <a:p>
            <a:pPr marL="571500" indent="-571500">
              <a:spcAft>
                <a:spcPts val="1200"/>
              </a:spcAft>
              <a:buFont typeface="Courier New" panose="02070309020205020404" pitchFamily="49" charset="0"/>
              <a:buChar char="o"/>
            </a:pPr>
            <a:r>
              <a:rPr lang="en-US" sz="3200" dirty="0"/>
              <a:t xml:space="preserve">Biomarkers before nivolumab: TMB ≥9 mut/Mb or </a:t>
            </a:r>
            <a:r>
              <a:rPr lang="en-US" sz="3200" i="1" dirty="0"/>
              <a:t>BRAF</a:t>
            </a:r>
            <a:r>
              <a:rPr lang="en-US" sz="3200" dirty="0"/>
              <a:t xml:space="preserve"> V600E (baseline); CRP &lt;5 mg/L at week 4, after 2 FLOX cycles common to both arms (by chance 47% vs 19% positive).</a:t>
            </a:r>
            <a:endParaRPr lang="en-US" sz="3200" dirty="0"/>
          </a:p>
          <a:p>
            <a:pPr marL="571500" indent="-571500">
              <a:spcAft>
                <a:spcPts val="1200"/>
              </a:spcAft>
              <a:buFont typeface="Courier New" panose="02070309020205020404" pitchFamily="49" charset="0"/>
              <a:buChar char="o"/>
            </a:pPr>
            <a:r>
              <a:rPr lang="en-US" sz="3200" dirty="0"/>
              <a:t>TLR ≥10% at the first on-treatment CT: intermediate endpoint (T → TLR → PFS), analyzed with a week-9 landmark.</a:t>
            </a:r>
            <a:endParaRPr lang="en-US" sz="3200" dirty="0"/>
          </a:p>
          <a:p>
            <a:pPr marL="571500" indent="-571500">
              <a:spcAft>
                <a:spcPts val="1200"/>
              </a:spcAft>
              <a:buFont typeface="Courier New" panose="02070309020205020404" pitchFamily="49" charset="0"/>
              <a:buChar char="o"/>
            </a:pPr>
            <a:r>
              <a:rPr lang="en-US" sz="3200" dirty="0"/>
              <a:t>Per endpoint (PFS, overall survival [OS]): one Firth-corrected Cox model with age, sex, treatment, biomarker main effects and treatment × biomarker interactions (</a:t>
            </a:r>
            <a:r>
              <a:rPr lang="en-US" sz="3200" b="1" dirty="0"/>
              <a:t>Figure 1</a:t>
            </a:r>
            <a:r>
              <a:rPr lang="en-US" sz="3200" dirty="0"/>
              <a:t>); profile-likelihood 95% CIs, penalized likelihood-ratio tests (PLRT).</a:t>
            </a:r>
            <a:endParaRPr lang="en-US" sz="3200" dirty="0"/>
          </a:p>
          <a:p>
            <a:pPr marL="571500" indent="-571500">
              <a:spcAft>
                <a:spcPts val="1200"/>
              </a:spcAft>
              <a:buFont typeface="Courier New" panose="02070309020205020404" pitchFamily="49" charset="0"/>
              <a:buChar char="o"/>
            </a:pPr>
            <a:r>
              <a:rPr lang="en-US" sz="3200" dirty="0"/>
              <a:t>Stability check: ridge-penalized Cox shrinking the biomarker terms (cross-validated penalty).</a:t>
            </a:r>
            <a:endParaRPr lang="en-US" sz="3200" dirty="0"/>
          </a:p>
        </p:txBody>
      </p:sp>
      <p:pic>
        <p:nvPicPr>
          <p:cNvPr id="108" name="Figure 1 DAG" descr="Directed acyclic graph of the assumed relationships between treatment, CRP, TMB/BRAF, age/sex and survival"/>
          <p:cNvPicPr>
            <a:picLocks noChangeAspect="1"/>
          </p:cNvPicPr>
          <p:nvPr/>
        </p:nvPicPr>
        <p:blipFill>
          <a:blip r:embed="rId7"/>
          <a:stretch>
            <a:fillRect/>
          </a:stretch>
        </p:blipFill>
        <p:spPr>
          <a:xfrm>
            <a:off x="2468880" y="20165133"/>
            <a:ext cx="7863840" cy="5392347"/>
          </a:xfrm>
          <a:prstGeom prst="rect">
            <a:avLst/>
          </a:prstGeom>
        </p:spPr>
      </p:pic>
      <p:sp>
        <p:nvSpPr>
          <p:cNvPr id="109" name="Figure 1 caption"/>
          <p:cNvSpPr txBox="1"/>
          <p:nvPr/>
        </p:nvSpPr>
        <p:spPr>
          <a:xfrm>
            <a:off x="822960" y="25557480"/>
            <a:ext cx="11155680" cy="777240"/>
          </a:xfrm>
          <a:prstGeom prst="rect">
            <a:avLst/>
          </a:prstGeom>
          <a:noFill/>
        </p:spPr>
        <p:txBody>
          <a:bodyPr wrap="square" rtlCol="0" anchor="t">
            <a:noAutofit/>
          </a:bodyPr>
          <a:lstStyle/>
          <a:p>
            <a:pPr algn="ctr"/>
            <a:r>
              <a:rPr lang="en-US" sz="2400" b="1" dirty="0"/>
              <a:t xml:space="preserve">Figure 1. Assumed relationships (DAG) behind the model. </a:t>
            </a:r>
            <a:r>
              <a:rPr lang="en-US" sz="2400" dirty="0"/>
              <a:t>Dashed arrow: treatment effect possibly modified by CRP and TMB/</a:t>
            </a:r>
            <a:r>
              <a:rPr lang="en-US" sz="2400" i="1" dirty="0"/>
              <a:t>BRAF</a:t>
            </a:r>
            <a:r>
              <a:rPr lang="en-US" sz="2400" dirty="0"/>
              <a:t>.</a:t>
            </a:r>
          </a:p>
        </p:txBody>
      </p:sp>
      <p:pic>
        <p:nvPicPr>
          <p:cNvPr id="110" name="Figure 2 Kaplan-Meier" descr="Kaplan-Meier curves by biomarker status and treatment arm"/>
          <p:cNvPicPr>
            <a:picLocks noChangeAspect="1"/>
          </p:cNvPicPr>
          <p:nvPr/>
        </p:nvPicPr>
        <p:blipFill>
          <a:blip r:embed="rId5"/>
          <a:stretch>
            <a:fillRect/>
          </a:stretch>
        </p:blipFill>
        <p:spPr>
          <a:xfrm>
            <a:off x="12929616" y="5751576"/>
            <a:ext cx="24505920" cy="13784580"/>
          </a:xfrm>
          <a:prstGeom prst="rect">
            <a:avLst/>
          </a:prstGeom>
        </p:spPr>
      </p:pic>
      <p:sp>
        <p:nvSpPr>
          <p:cNvPr id="111" name="Key findings box"/>
          <p:cNvSpPr/>
          <p:nvPr/>
        </p:nvSpPr>
        <p:spPr>
          <a:xfrm>
            <a:off x="37801296" y="5751576"/>
            <a:ext cx="13066776" cy="13784580"/>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lIns="137160" rIns="137160" rtlCol="0" anchor="ctr">
            <a:noAutofit/>
          </a:bodyPr>
          <a:lstStyle/>
          <a:p>
            <a:pPr marL="571500" indent="-571500">
              <a:spcAft>
                <a:spcPts val="1600"/>
              </a:spcAft>
              <a:buFont typeface="Courier New" panose="02070309020205020404" pitchFamily="49" charset="0"/>
              <a:buChar char="o"/>
            </a:pPr>
            <a:r>
              <a:rPr lang="en-US" sz="4000" b="1" dirty="0"/>
              <a:t xml:space="preserve">No marginal treatment effect: </a:t>
            </a:r>
            <a:r>
              <a:rPr lang="en-US" sz="4000" dirty="0"/>
              <a:t>OS HR 0.96 (95% CI 0.58–1.61); PFS HR 0.77 (0.44–1.38).</a:t>
            </a:r>
            <a:endParaRPr lang="en-US" sz="4000" dirty="0"/>
          </a:p>
          <a:p>
            <a:pPr marL="571500" indent="-571500">
              <a:spcAft>
                <a:spcPts val="1600"/>
              </a:spcAft>
              <a:buFont typeface="Courier New" panose="02070309020205020404" pitchFamily="49" charset="0"/>
              <a:buChar char="o"/>
            </a:pPr>
            <a:r>
              <a:rPr lang="en-US" sz="4000" b="1" dirty="0"/>
              <a:t xml:space="preserve">Prognostic: </a:t>
            </a:r>
            <a:r>
              <a:rPr lang="en-US" sz="4000" dirty="0"/>
              <a:t>CRP &lt;5 mg/L and TMB/</a:t>
            </a:r>
            <a:r>
              <a:rPr lang="en-US" sz="4000" i="1" dirty="0"/>
              <a:t>BRAF</a:t>
            </a:r>
            <a:r>
              <a:rPr lang="en-US" sz="4000" dirty="0"/>
              <a:t xml:space="preserve"> positivity were associated with longer PFS (HR 0.39 each) and, for CRP, longer OS (HR 0.49), regardless of treatment (</a:t>
            </a:r>
            <a:r>
              <a:rPr lang="en-US" sz="4000" b="1" dirty="0"/>
              <a:t>Table 1</a:t>
            </a:r>
            <a:r>
              <a:rPr lang="en-US" sz="4000" dirty="0"/>
              <a:t xml:space="preserve">, </a:t>
            </a:r>
            <a:r>
              <a:rPr lang="en-US" sz="4000" b="1" dirty="0"/>
              <a:t>Figure 2</a:t>
            </a:r>
            <a:r>
              <a:rPr lang="en-US" sz="4000" dirty="0"/>
              <a:t>).</a:t>
            </a:r>
            <a:endParaRPr lang="en-US" sz="4000" dirty="0"/>
          </a:p>
          <a:p>
            <a:pPr marL="571500" indent="-571500">
              <a:spcAft>
                <a:spcPts val="1600"/>
              </a:spcAft>
              <a:buFont typeface="Courier New" panose="02070309020205020404" pitchFamily="49" charset="0"/>
              <a:buChar char="o"/>
            </a:pPr>
            <a:r>
              <a:rPr lang="en-US" sz="4000" b="1" dirty="0"/>
              <a:t xml:space="preserve">Not predictive: </a:t>
            </a:r>
            <a:r>
              <a:rPr lang="en-US" sz="4000" dirty="0"/>
              <a:t>no treatment × biomarker interaction reached significance (</a:t>
            </a:r>
            <a:r>
              <a:rPr lang="en-US" sz="4000" b="1" dirty="0"/>
              <a:t>Figure 3</a:t>
            </a:r>
            <a:r>
              <a:rPr lang="en-US" sz="4000" dirty="0"/>
              <a:t>). Largest signal: CRP × treatment for PFS, HR 0.26 (0.06–1.34), p = 0.10, but it shrinks toward 1 under ridge (HR 0.66) and is weaker for OS (HR 0.65).</a:t>
            </a:r>
            <a:endParaRPr lang="en-US" sz="4000" dirty="0"/>
          </a:p>
          <a:p>
            <a:pPr marL="571500" indent="-571500">
              <a:spcAft>
                <a:spcPts val="0"/>
              </a:spcAft>
              <a:buFont typeface="Courier New" panose="02070309020205020404" pitchFamily="49" charset="0"/>
              <a:buChar char="o"/>
            </a:pPr>
            <a:r>
              <a:rPr lang="en-US" sz="4000" b="1" dirty="0"/>
              <a:t xml:space="preserve">TLR: </a:t>
            </a:r>
            <a:r>
              <a:rPr lang="en-US" sz="4000" dirty="0"/>
              <a:t>strongly prognostic (landmark HR 0.35 OS, 0.21 PFS), but more frequent with FLOX alone (76% vs 53%), with inconsistent interactions (HR 2.47 OS, 0.88 PFS): a marker of chemotherapy-responsive disease, not of nivolumab benefit.</a:t>
            </a:r>
            <a:endParaRPr lang="en-US" sz="4000" dirty="0"/>
          </a:p>
        </p:txBody>
      </p:sp>
      <p:sp>
        <p:nvSpPr>
          <p:cNvPr id="112" name="Table 1 caption"/>
          <p:cNvSpPr txBox="1"/>
          <p:nvPr/>
        </p:nvSpPr>
        <p:spPr>
          <a:xfrm>
            <a:off x="12929616" y="19883628"/>
            <a:ext cx="25594056" cy="566928"/>
          </a:xfrm>
          <a:prstGeom prst="rect">
            <a:avLst/>
          </a:prstGeom>
          <a:noFill/>
        </p:spPr>
        <p:txBody>
          <a:bodyPr wrap="square" rtlCol="0" anchor="t">
            <a:noAutofit/>
          </a:bodyPr>
          <a:lstStyle/>
          <a:p>
            <a:r>
              <a:rPr lang="en-US" sz="2800" b="1" dirty="0"/>
              <a:t xml:space="preserve">Table 1. </a:t>
            </a:r>
            <a:r>
              <a:rPr lang="en-US" sz="2800" dirty="0"/>
              <a:t>Hazard ratios (95% profile-likelihood CI) from Firth-corrected Cox regression</a:t>
            </a:r>
          </a:p>
        </p:txBody>
      </p:sp>
      <p:graphicFrame>
        <p:nvGraphicFramePr>
          <p:cNvPr id="113" name="Table 1"/>
          <p:cNvGraphicFramePr>
            <a:graphicFrameLocks noGrp="1"/>
          </p:cNvGraphicFramePr>
          <p:nvPr/>
        </p:nvGraphicFramePr>
        <p:xfrm>
          <a:off x="12929616" y="20487132"/>
          <a:ext cx="25594056" cy="4773168"/>
        </p:xfrm>
        <a:graphic>
          <a:graphicData uri="http://schemas.openxmlformats.org/drawingml/2006/table">
            <a:tbl>
              <a:tblPr firstRow="1" bandRow="1"/>
              <a:tblGrid>
                <a:gridCol w="6400800"/>
                <a:gridCol w="5029200"/>
                <a:gridCol w="3474720"/>
                <a:gridCol w="1554480"/>
                <a:gridCol w="2011680"/>
                <a:gridCol w="3474720"/>
                <a:gridCol w="1554480"/>
                <a:gridCol w="2093976"/>
              </a:tblGrid>
              <a:tr h="530352">
                <a:tc rowSpan="2">
                  <a:txBody>
                    <a:bodyPr/>
                    <a:lstStyle/>
                    <a:p>
                      <a:pPr algn="l"/>
                      <a:r>
                        <a:rPr lang="en-US" sz="2800" b="1" dirty="0"/>
                        <a:t>Term</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rowSpan="2">
                  <a:txBody>
                    <a:bodyPr/>
                    <a:lstStyle/>
                    <a:p>
                      <a:pPr algn="l"/>
                      <a:r>
                        <a:rPr lang="en-US" sz="2800" b="1" dirty="0"/>
                        <a:t>Model</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gridSpan="3">
                  <a:txBody>
                    <a:bodyPr/>
                    <a:lstStyle/>
                    <a:p>
                      <a:pPr algn="ctr"/>
                      <a:r>
                        <a:rPr lang="en-US" sz="2800" b="1" dirty="0"/>
                        <a:t>Overall survival</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gridSpan="3">
                  <a:txBody>
                    <a:bodyPr/>
                    <a:lstStyle/>
                    <a:p>
                      <a:pPr algn="ctr"/>
                      <a:r>
                        <a:rPr lang="en-US" sz="2800" b="1" dirty="0"/>
                        <a:t>Progression-free survival</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r>
              <a:tr h="530352">
                <a:tc vMerge="1">
                  <a:txBody>
                    <a:bodyPr/>
                    <a:lstStyle/>
                    <a:p>
                      <a:pPr algn="ct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vMerge="1">
                  <a:txBody>
                    <a:bodyPr/>
                    <a:lstStyle/>
                    <a:p>
                      <a:pPr algn="ct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HR (95% CI)</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p</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Ridge HR</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HR (95% CI)</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p</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Ridge HR</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r>
              <a:tr h="530352">
                <a:tc>
                  <a:txBody>
                    <a:bodyPr/>
                    <a:lstStyle/>
                    <a:p>
                      <a:pPr algn="l"/>
                      <a:r>
                        <a:rPr lang="en-US" sz="2800" dirty="0"/>
                        <a:t>Treatment (FLOX/nivolumab vs FLOX)</a:t>
                      </a:r>
                      <a:endParaRPr lang="en-US" sz="2800" dirty="0"/>
                    </a:p>
                  </a:txBody>
                  <a:tcPr marL="60000" marR="60000" marT="18000" marB="18000" anchor="ctr">
                    <a:lnL>
                      <a:noFill/>
                    </a:lnL>
                    <a:lnR>
                      <a:noFill/>
                    </a:lnR>
                    <a:lnT>
                      <a:noFill/>
                    </a:lnT>
                    <a:lnB>
                      <a:noFill/>
                    </a:lnB>
                    <a:noFill/>
                  </a:tcPr>
                </a:tc>
                <a:tc>
                  <a:txBody>
                    <a:bodyPr/>
                    <a:lstStyle/>
                    <a:p>
                      <a:pPr algn="l"/>
                      <a:r>
                        <a:rPr lang="en-US" sz="2800" dirty="0"/>
                        <a:t>Univariable</a:t>
                      </a:r>
                      <a:endParaRPr lang="en-US" sz="2800" dirty="0"/>
                    </a:p>
                  </a:txBody>
                  <a:tcPr marL="60000" marR="60000" marT="18000" marB="18000" anchor="ctr">
                    <a:lnL>
                      <a:noFill/>
                    </a:lnL>
                    <a:lnR>
                      <a:noFill/>
                    </a:lnR>
                    <a:lnT>
                      <a:noFill/>
                    </a:lnT>
                    <a:lnB>
                      <a:noFill/>
                    </a:lnB>
                    <a:noFill/>
                  </a:tcPr>
                </a:tc>
                <a:tc>
                  <a:txBody>
                    <a:bodyPr/>
                    <a:lstStyle/>
                    <a:p>
                      <a:pPr algn="ctr"/>
                      <a:r>
                        <a:rPr lang="en-US" sz="2800" dirty="0"/>
                        <a:t>0.96 (0.58–1.61)</a:t>
                      </a:r>
                      <a:endParaRPr lang="en-US" sz="2800" dirty="0"/>
                    </a:p>
                  </a:txBody>
                  <a:tcPr marL="60000" marR="60000" marT="18000" marB="18000" anchor="ctr">
                    <a:lnL>
                      <a:noFill/>
                    </a:lnL>
                    <a:lnR>
                      <a:noFill/>
                    </a:lnR>
                    <a:lnT>
                      <a:noFill/>
                    </a:lnT>
                    <a:lnB>
                      <a:noFill/>
                    </a:lnB>
                    <a:noFill/>
                  </a:tcPr>
                </a:tc>
                <a:tc>
                  <a:txBody>
                    <a:bodyPr/>
                    <a:lstStyle/>
                    <a:p>
                      <a:pPr algn="ctr"/>
                      <a:r>
                        <a:rPr lang="en-US" sz="2800" dirty="0"/>
                        <a:t>0.87</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c>
                  <a:txBody>
                    <a:bodyPr/>
                    <a:lstStyle/>
                    <a:p>
                      <a:pPr algn="ctr"/>
                      <a:r>
                        <a:rPr lang="en-US" sz="2800" dirty="0"/>
                        <a:t>0.77 (0.44–1.38)</a:t>
                      </a:r>
                      <a:endParaRPr lang="en-US" sz="2800" dirty="0"/>
                    </a:p>
                  </a:txBody>
                  <a:tcPr marL="60000" marR="60000" marT="18000" marB="18000" anchor="ctr">
                    <a:lnL>
                      <a:noFill/>
                    </a:lnL>
                    <a:lnR>
                      <a:noFill/>
                    </a:lnR>
                    <a:lnT>
                      <a:noFill/>
                    </a:lnT>
                    <a:lnB>
                      <a:noFill/>
                    </a:lnB>
                    <a:noFill/>
                  </a:tcPr>
                </a:tc>
                <a:tc>
                  <a:txBody>
                    <a:bodyPr/>
                    <a:lstStyle/>
                    <a:p>
                      <a:pPr algn="ctr"/>
                      <a:r>
                        <a:rPr lang="en-US" sz="2800" dirty="0"/>
                        <a:t>0.38</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r>
              <a:tr h="530352">
                <a:tc>
                  <a:txBody>
                    <a:bodyPr/>
                    <a:lstStyle/>
                    <a:p>
                      <a:pPr algn="l"/>
                      <a:r>
                        <a:rPr lang="en-US" sz="2800" dirty="0"/>
                        <a:t>CRP &lt;5 mg/L at week 4</a:t>
                      </a:r>
                      <a:endParaRPr lang="en-US" sz="2800" dirty="0"/>
                    </a:p>
                  </a:txBody>
                  <a:tcPr marL="60000" marR="60000" marT="18000" marB="18000" anchor="ctr">
                    <a:lnL>
                      <a:noFill/>
                    </a:lnL>
                    <a:lnR>
                      <a:noFill/>
                    </a:lnR>
                    <a:lnT>
                      <a:noFill/>
                    </a:lnT>
                    <a:lnB>
                      <a:noFill/>
                    </a:lnB>
                    <a:noFill/>
                  </a:tcPr>
                </a:tc>
                <a:tc>
                  <a:txBody>
                    <a:bodyPr/>
                    <a:lstStyle/>
                    <a:p>
                      <a:pPr algn="l"/>
                      <a:r>
                        <a:rPr lang="en-US" sz="2800" dirty="0"/>
                        <a:t>Univariable (prognostic)</a:t>
                      </a:r>
                      <a:endParaRPr lang="en-US" sz="2800" dirty="0"/>
                    </a:p>
                  </a:txBody>
                  <a:tcPr marL="60000" marR="60000" marT="18000" marB="18000" anchor="ctr">
                    <a:lnL>
                      <a:noFill/>
                    </a:lnL>
                    <a:lnR>
                      <a:noFill/>
                    </a:lnR>
                    <a:lnT>
                      <a:noFill/>
                    </a:lnT>
                    <a:lnB>
                      <a:noFill/>
                    </a:lnB>
                    <a:noFill/>
                  </a:tcPr>
                </a:tc>
                <a:tc>
                  <a:txBody>
                    <a:bodyPr/>
                    <a:lstStyle/>
                    <a:p>
                      <a:pPr algn="ctr"/>
                      <a:r>
                        <a:rPr lang="en-US" sz="2800" dirty="0"/>
                        <a:t>0.49 (0.27–0.84)</a:t>
                      </a:r>
                      <a:endParaRPr lang="en-US" sz="2800" dirty="0"/>
                    </a:p>
                  </a:txBody>
                  <a:tcPr marL="60000" marR="60000" marT="18000" marB="18000" anchor="ctr">
                    <a:lnL>
                      <a:noFill/>
                    </a:lnL>
                    <a:lnR>
                      <a:noFill/>
                    </a:lnR>
                    <a:lnT>
                      <a:noFill/>
                    </a:lnT>
                    <a:lnB>
                      <a:noFill/>
                    </a:lnB>
                    <a:noFill/>
                  </a:tcPr>
                </a:tc>
                <a:tc>
                  <a:txBody>
                    <a:bodyPr/>
                    <a:lstStyle/>
                    <a:p>
                      <a:pPr algn="ctr"/>
                      <a:r>
                        <a:rPr lang="en-US" sz="2800" dirty="0"/>
                        <a:t>0.009</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c>
                  <a:txBody>
                    <a:bodyPr/>
                    <a:lstStyle/>
                    <a:p>
                      <a:pPr algn="ctr"/>
                      <a:r>
                        <a:rPr lang="en-US" sz="2800" dirty="0"/>
                        <a:t>0.39 (0.20–0.73)</a:t>
                      </a:r>
                      <a:endParaRPr lang="en-US" sz="2800" dirty="0"/>
                    </a:p>
                  </a:txBody>
                  <a:tcPr marL="60000" marR="60000" marT="18000" marB="18000" anchor="ctr">
                    <a:lnL>
                      <a:noFill/>
                    </a:lnL>
                    <a:lnR>
                      <a:noFill/>
                    </a:lnR>
                    <a:lnT>
                      <a:noFill/>
                    </a:lnT>
                    <a:lnB>
                      <a:noFill/>
                    </a:lnB>
                    <a:noFill/>
                  </a:tcPr>
                </a:tc>
                <a:tc>
                  <a:txBody>
                    <a:bodyPr/>
                    <a:lstStyle/>
                    <a:p>
                      <a:pPr algn="ctr"/>
                      <a:r>
                        <a:rPr lang="en-US" sz="2800" dirty="0"/>
                        <a:t>0.003</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r>
              <a:tr h="530352">
                <a:tc>
                  <a:txBody>
                    <a:bodyPr/>
                    <a:lstStyle/>
                    <a:p>
                      <a:pPr algn="l"/>
                      <a:r>
                        <a:rPr lang="en-US" sz="2800" dirty="0"/>
                        <a:t xml:space="preserve">TMB ≥9 mut/Mb or </a:t>
                      </a:r>
                      <a:r>
                        <a:rPr lang="en-US" sz="2800" i="1" dirty="0"/>
                        <a:t>BRAF</a:t>
                      </a:r>
                      <a:r>
                        <a:rPr lang="en-US" sz="2800" dirty="0"/>
                        <a:t xml:space="preserve"> V600E</a:t>
                      </a:r>
                      <a:endParaRPr lang="en-US" sz="2800" dirty="0"/>
                    </a:p>
                  </a:txBody>
                  <a:tcPr marL="60000" marR="60000" marT="18000" marB="18000" anchor="ctr">
                    <a:lnL>
                      <a:noFill/>
                    </a:lnL>
                    <a:lnR>
                      <a:noFill/>
                    </a:lnR>
                    <a:lnT>
                      <a:noFill/>
                    </a:lnT>
                    <a:lnB>
                      <a:noFill/>
                    </a:lnB>
                    <a:noFill/>
                  </a:tcPr>
                </a:tc>
                <a:tc>
                  <a:txBody>
                    <a:bodyPr/>
                    <a:lstStyle/>
                    <a:p>
                      <a:pPr algn="l"/>
                      <a:r>
                        <a:rPr lang="en-US" sz="2800" dirty="0"/>
                        <a:t>Univariable (prognostic)</a:t>
                      </a:r>
                      <a:endParaRPr lang="en-US" sz="2800" dirty="0"/>
                    </a:p>
                  </a:txBody>
                  <a:tcPr marL="60000" marR="60000" marT="18000" marB="18000" anchor="ctr">
                    <a:lnL>
                      <a:noFill/>
                    </a:lnL>
                    <a:lnR>
                      <a:noFill/>
                    </a:lnR>
                    <a:lnT>
                      <a:noFill/>
                    </a:lnT>
                    <a:lnB>
                      <a:noFill/>
                    </a:lnB>
                    <a:noFill/>
                  </a:tcPr>
                </a:tc>
                <a:tc>
                  <a:txBody>
                    <a:bodyPr/>
                    <a:lstStyle/>
                    <a:p>
                      <a:pPr algn="ctr"/>
                      <a:r>
                        <a:rPr lang="en-US" sz="2800" dirty="0"/>
                        <a:t>0.68 (0.40–1.13)</a:t>
                      </a:r>
                      <a:endParaRPr lang="en-US" sz="2800" dirty="0"/>
                    </a:p>
                  </a:txBody>
                  <a:tcPr marL="60000" marR="60000" marT="18000" marB="18000" anchor="ctr">
                    <a:lnL>
                      <a:noFill/>
                    </a:lnL>
                    <a:lnR>
                      <a:noFill/>
                    </a:lnR>
                    <a:lnT>
                      <a:noFill/>
                    </a:lnT>
                    <a:lnB>
                      <a:noFill/>
                    </a:lnB>
                    <a:noFill/>
                  </a:tcPr>
                </a:tc>
                <a:tc>
                  <a:txBody>
                    <a:bodyPr/>
                    <a:lstStyle/>
                    <a:p>
                      <a:pPr algn="ctr"/>
                      <a:r>
                        <a:rPr lang="en-US" sz="2800" dirty="0"/>
                        <a:t>0.14</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c>
                  <a:txBody>
                    <a:bodyPr/>
                    <a:lstStyle/>
                    <a:p>
                      <a:pPr algn="ctr"/>
                      <a:r>
                        <a:rPr lang="en-US" sz="2800" dirty="0"/>
                        <a:t>0.39 (0.21–0.73)</a:t>
                      </a:r>
                      <a:endParaRPr lang="en-US" sz="2800" dirty="0"/>
                    </a:p>
                  </a:txBody>
                  <a:tcPr marL="60000" marR="60000" marT="18000" marB="18000" anchor="ctr">
                    <a:lnL>
                      <a:noFill/>
                    </a:lnL>
                    <a:lnR>
                      <a:noFill/>
                    </a:lnR>
                    <a:lnT>
                      <a:noFill/>
                    </a:lnT>
                    <a:lnB>
                      <a:noFill/>
                    </a:lnB>
                    <a:noFill/>
                  </a:tcPr>
                </a:tc>
                <a:tc>
                  <a:txBody>
                    <a:bodyPr/>
                    <a:lstStyle/>
                    <a:p>
                      <a:pPr algn="ctr"/>
                      <a:r>
                        <a:rPr lang="en-US" sz="2800" dirty="0"/>
                        <a:t>0.003</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r>
              <a:tr h="530352">
                <a:tc>
                  <a:txBody>
                    <a:bodyPr/>
                    <a:lstStyle/>
                    <a:p>
                      <a:pPr algn="l"/>
                      <a:r>
                        <a:rPr lang="en-US" sz="2800" dirty="0"/>
                        <a:t>TLR ≥10% (week-9 landmark)†</a:t>
                      </a:r>
                      <a:endParaRPr lang="en-US" sz="2800" dirty="0"/>
                    </a:p>
                  </a:txBody>
                  <a:tcPr marL="60000" marR="60000" marT="18000" marB="18000" anchor="ctr">
                    <a:lnL>
                      <a:noFill/>
                    </a:lnL>
                    <a:lnR>
                      <a:noFill/>
                    </a:lnR>
                    <a:lnT>
                      <a:noFill/>
                    </a:lnT>
                    <a:lnB>
                      <a:noFill/>
                    </a:lnB>
                    <a:noFill/>
                  </a:tcPr>
                </a:tc>
                <a:tc>
                  <a:txBody>
                    <a:bodyPr/>
                    <a:lstStyle/>
                    <a:p>
                      <a:pPr algn="l"/>
                      <a:r>
                        <a:rPr lang="en-US" sz="2800" dirty="0"/>
                        <a:t>Univariable (prognostic)</a:t>
                      </a:r>
                      <a:endParaRPr lang="en-US" sz="2800" dirty="0"/>
                    </a:p>
                  </a:txBody>
                  <a:tcPr marL="60000" marR="60000" marT="18000" marB="18000" anchor="ctr">
                    <a:lnL>
                      <a:noFill/>
                    </a:lnL>
                    <a:lnR>
                      <a:noFill/>
                    </a:lnR>
                    <a:lnT>
                      <a:noFill/>
                    </a:lnT>
                    <a:lnB>
                      <a:noFill/>
                    </a:lnB>
                    <a:noFill/>
                  </a:tcPr>
                </a:tc>
                <a:tc>
                  <a:txBody>
                    <a:bodyPr/>
                    <a:lstStyle/>
                    <a:p>
                      <a:pPr algn="ctr"/>
                      <a:r>
                        <a:rPr lang="en-US" sz="2800" dirty="0"/>
                        <a:t>0.35 (0.21–0.61)</a:t>
                      </a:r>
                      <a:endParaRPr lang="en-US" sz="2800" dirty="0"/>
                    </a:p>
                  </a:txBody>
                  <a:tcPr marL="60000" marR="60000" marT="18000" marB="18000" anchor="ctr">
                    <a:lnL>
                      <a:noFill/>
                    </a:lnL>
                    <a:lnR>
                      <a:noFill/>
                    </a:lnR>
                    <a:lnT>
                      <a:noFill/>
                    </a:lnT>
                    <a:lnB>
                      <a:noFill/>
                    </a:lnB>
                    <a:noFill/>
                  </a:tcPr>
                </a:tc>
                <a:tc>
                  <a:txBody>
                    <a:bodyPr/>
                    <a:lstStyle/>
                    <a:p>
                      <a:pPr algn="ctr"/>
                      <a:r>
                        <a:rPr lang="en-US" sz="2800" dirty="0"/>
                        <a:t>&lt;0.001</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c>
                  <a:txBody>
                    <a:bodyPr/>
                    <a:lstStyle/>
                    <a:p>
                      <a:pPr algn="ctr"/>
                      <a:r>
                        <a:rPr lang="en-US" sz="2800" dirty="0"/>
                        <a:t>0.21 (0.11–0.42)</a:t>
                      </a:r>
                      <a:endParaRPr lang="en-US" sz="2800" dirty="0"/>
                    </a:p>
                  </a:txBody>
                  <a:tcPr marL="60000" marR="60000" marT="18000" marB="18000" anchor="ctr">
                    <a:lnL>
                      <a:noFill/>
                    </a:lnL>
                    <a:lnR>
                      <a:noFill/>
                    </a:lnR>
                    <a:lnT>
                      <a:noFill/>
                    </a:lnT>
                    <a:lnB>
                      <a:noFill/>
                    </a:lnB>
                    <a:noFill/>
                  </a:tcPr>
                </a:tc>
                <a:tc>
                  <a:txBody>
                    <a:bodyPr/>
                    <a:lstStyle/>
                    <a:p>
                      <a:pPr algn="ctr"/>
                      <a:r>
                        <a:rPr lang="en-US" sz="2800" dirty="0"/>
                        <a:t>&lt;0.001</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r>
              <a:tr h="530352">
                <a:tc>
                  <a:txBody>
                    <a:bodyPr/>
                    <a:lstStyle/>
                    <a:p>
                      <a:pPr algn="l"/>
                      <a:r>
                        <a:rPr lang="en-US" sz="2800" dirty="0"/>
                        <a:t>CRP × treatment</a:t>
                      </a:r>
                      <a:endParaRPr lang="en-US" sz="2800" dirty="0"/>
                    </a:p>
                  </a:txBody>
                  <a:tcPr marL="60000" marR="60000" marT="18000" marB="18000" anchor="ctr">
                    <a:lnL>
                      <a:noFill/>
                    </a:lnL>
                    <a:lnR>
                      <a:noFill/>
                    </a:lnR>
                    <a:lnT>
                      <a:noFill/>
                    </a:lnT>
                    <a:lnB>
                      <a:noFill/>
                    </a:lnB>
                    <a:noFill/>
                  </a:tcPr>
                </a:tc>
                <a:tc>
                  <a:txBody>
                    <a:bodyPr/>
                    <a:lstStyle/>
                    <a:p>
                      <a:pPr algn="l"/>
                      <a:r>
                        <a:rPr lang="en-US" sz="2800" dirty="0"/>
                        <a:t>Unified interaction model</a:t>
                      </a:r>
                      <a:endParaRPr lang="en-US" sz="2800" dirty="0"/>
                    </a:p>
                  </a:txBody>
                  <a:tcPr marL="60000" marR="60000" marT="18000" marB="18000" anchor="ctr">
                    <a:lnL>
                      <a:noFill/>
                    </a:lnL>
                    <a:lnR>
                      <a:noFill/>
                    </a:lnR>
                    <a:lnT>
                      <a:noFill/>
                    </a:lnT>
                    <a:lnB>
                      <a:noFill/>
                    </a:lnB>
                    <a:noFill/>
                  </a:tcPr>
                </a:tc>
                <a:tc>
                  <a:txBody>
                    <a:bodyPr/>
                    <a:lstStyle/>
                    <a:p>
                      <a:pPr algn="ctr"/>
                      <a:r>
                        <a:rPr lang="en-US" sz="2800" dirty="0"/>
                        <a:t>0.65 (0.19–2.60)</a:t>
                      </a:r>
                      <a:endParaRPr lang="en-US" sz="2800" dirty="0"/>
                    </a:p>
                  </a:txBody>
                  <a:tcPr marL="60000" marR="60000" marT="18000" marB="18000" anchor="ctr">
                    <a:lnL>
                      <a:noFill/>
                    </a:lnL>
                    <a:lnR>
                      <a:noFill/>
                    </a:lnR>
                    <a:lnT>
                      <a:noFill/>
                    </a:lnT>
                    <a:lnB>
                      <a:noFill/>
                    </a:lnB>
                    <a:noFill/>
                  </a:tcPr>
                </a:tc>
                <a:tc>
                  <a:txBody>
                    <a:bodyPr/>
                    <a:lstStyle/>
                    <a:p>
                      <a:pPr algn="ctr"/>
                      <a:r>
                        <a:rPr lang="en-US" sz="2800" dirty="0"/>
                        <a:t>0.52</a:t>
                      </a:r>
                      <a:endParaRPr lang="en-US" sz="2800" dirty="0"/>
                    </a:p>
                  </a:txBody>
                  <a:tcPr marL="60000" marR="60000" marT="18000" marB="18000" anchor="ctr">
                    <a:lnL>
                      <a:noFill/>
                    </a:lnL>
                    <a:lnR>
                      <a:noFill/>
                    </a:lnR>
                    <a:lnT>
                      <a:noFill/>
                    </a:lnT>
                    <a:lnB>
                      <a:noFill/>
                    </a:lnB>
                    <a:noFill/>
                  </a:tcPr>
                </a:tc>
                <a:tc>
                  <a:txBody>
                    <a:bodyPr/>
                    <a:lstStyle/>
                    <a:p>
                      <a:pPr algn="ctr"/>
                      <a:r>
                        <a:rPr lang="en-US" sz="2800" dirty="0"/>
                        <a:t>0.80</a:t>
                      </a:r>
                      <a:endParaRPr lang="en-US" sz="2800" dirty="0"/>
                    </a:p>
                  </a:txBody>
                  <a:tcPr marL="60000" marR="60000" marT="18000" marB="18000" anchor="ctr">
                    <a:lnL>
                      <a:noFill/>
                    </a:lnL>
                    <a:lnR>
                      <a:noFill/>
                    </a:lnR>
                    <a:lnT>
                      <a:noFill/>
                    </a:lnT>
                    <a:lnB>
                      <a:noFill/>
                    </a:lnB>
                    <a:noFill/>
                  </a:tcPr>
                </a:tc>
                <a:tc>
                  <a:txBody>
                    <a:bodyPr/>
                    <a:lstStyle/>
                    <a:p>
                      <a:pPr algn="ctr"/>
                      <a:r>
                        <a:rPr lang="en-US" sz="2800" dirty="0"/>
                        <a:t>0.26 (0.06–1.34)</a:t>
                      </a:r>
                      <a:endParaRPr lang="en-US" sz="2800" dirty="0"/>
                    </a:p>
                  </a:txBody>
                  <a:tcPr marL="60000" marR="60000" marT="18000" marB="18000" anchor="ctr">
                    <a:lnL>
                      <a:noFill/>
                    </a:lnL>
                    <a:lnR>
                      <a:noFill/>
                    </a:lnR>
                    <a:lnT>
                      <a:noFill/>
                    </a:lnT>
                    <a:lnB>
                      <a:noFill/>
                    </a:lnB>
                    <a:noFill/>
                  </a:tcPr>
                </a:tc>
                <a:tc>
                  <a:txBody>
                    <a:bodyPr/>
                    <a:lstStyle/>
                    <a:p>
                      <a:pPr algn="ctr"/>
                      <a:r>
                        <a:rPr lang="en-US" sz="2800" dirty="0"/>
                        <a:t>0.10</a:t>
                      </a:r>
                      <a:endParaRPr lang="en-US" sz="2800" dirty="0"/>
                    </a:p>
                  </a:txBody>
                  <a:tcPr marL="60000" marR="60000" marT="18000" marB="18000" anchor="ctr">
                    <a:lnL>
                      <a:noFill/>
                    </a:lnL>
                    <a:lnR>
                      <a:noFill/>
                    </a:lnR>
                    <a:lnT>
                      <a:noFill/>
                    </a:lnT>
                    <a:lnB>
                      <a:noFill/>
                    </a:lnB>
                    <a:noFill/>
                  </a:tcPr>
                </a:tc>
                <a:tc>
                  <a:txBody>
                    <a:bodyPr/>
                    <a:lstStyle/>
                    <a:p>
                      <a:pPr algn="ctr"/>
                      <a:r>
                        <a:rPr lang="en-US" sz="2800" dirty="0"/>
                        <a:t>0.66</a:t>
                      </a:r>
                      <a:endParaRPr lang="en-US" sz="2800" dirty="0"/>
                    </a:p>
                  </a:txBody>
                  <a:tcPr marL="60000" marR="60000" marT="18000" marB="18000" anchor="ctr">
                    <a:lnL>
                      <a:noFill/>
                    </a:lnL>
                    <a:lnR>
                      <a:noFill/>
                    </a:lnR>
                    <a:lnT>
                      <a:noFill/>
                    </a:lnT>
                    <a:lnB>
                      <a:noFill/>
                    </a:lnB>
                    <a:noFill/>
                  </a:tcPr>
                </a:tc>
              </a:tr>
              <a:tr h="530352">
                <a:tc>
                  <a:txBody>
                    <a:bodyPr/>
                    <a:lstStyle/>
                    <a:p>
                      <a:pPr algn="l"/>
                      <a:r>
                        <a:rPr lang="en-US" sz="2800" dirty="0"/>
                        <a:t>TMB/</a:t>
                      </a:r>
                      <a:r>
                        <a:rPr lang="en-US" sz="2800" i="1" dirty="0"/>
                        <a:t>BRAF</a:t>
                      </a:r>
                      <a:r>
                        <a:rPr lang="en-US" sz="2800" dirty="0"/>
                        <a:t xml:space="preserve"> × treatment</a:t>
                      </a:r>
                      <a:endParaRPr lang="en-US" sz="2800" dirty="0"/>
                    </a:p>
                  </a:txBody>
                  <a:tcPr marL="60000" marR="60000" marT="18000" marB="18000" anchor="ctr">
                    <a:lnL>
                      <a:noFill/>
                    </a:lnL>
                    <a:lnR>
                      <a:noFill/>
                    </a:lnR>
                    <a:lnT>
                      <a:noFill/>
                    </a:lnT>
                    <a:lnB>
                      <a:noFill/>
                    </a:lnB>
                    <a:noFill/>
                  </a:tcPr>
                </a:tc>
                <a:tc>
                  <a:txBody>
                    <a:bodyPr/>
                    <a:lstStyle/>
                    <a:p>
                      <a:pPr algn="l"/>
                      <a:r>
                        <a:rPr lang="en-US" sz="2800" dirty="0"/>
                        <a:t>Unified interaction model</a:t>
                      </a:r>
                      <a:endParaRPr lang="en-US" sz="2800" dirty="0"/>
                    </a:p>
                  </a:txBody>
                  <a:tcPr marL="60000" marR="60000" marT="18000" marB="18000" anchor="ctr">
                    <a:lnL>
                      <a:noFill/>
                    </a:lnL>
                    <a:lnR>
                      <a:noFill/>
                    </a:lnR>
                    <a:lnT>
                      <a:noFill/>
                    </a:lnT>
                    <a:lnB>
                      <a:noFill/>
                    </a:lnB>
                    <a:noFill/>
                  </a:tcPr>
                </a:tc>
                <a:tc>
                  <a:txBody>
                    <a:bodyPr/>
                    <a:lstStyle/>
                    <a:p>
                      <a:pPr algn="ctr"/>
                      <a:r>
                        <a:rPr lang="en-US" sz="2800" dirty="0"/>
                        <a:t>0.95 (0.32–2.82)</a:t>
                      </a:r>
                      <a:endParaRPr lang="en-US" sz="2800" dirty="0"/>
                    </a:p>
                  </a:txBody>
                  <a:tcPr marL="60000" marR="60000" marT="18000" marB="18000" anchor="ctr">
                    <a:lnL>
                      <a:noFill/>
                    </a:lnL>
                    <a:lnR>
                      <a:noFill/>
                    </a:lnR>
                    <a:lnT>
                      <a:noFill/>
                    </a:lnT>
                    <a:lnB>
                      <a:noFill/>
                    </a:lnB>
                    <a:noFill/>
                  </a:tcPr>
                </a:tc>
                <a:tc>
                  <a:txBody>
                    <a:bodyPr/>
                    <a:lstStyle/>
                    <a:p>
                      <a:pPr algn="ctr"/>
                      <a:r>
                        <a:rPr lang="en-US" sz="2800" dirty="0"/>
                        <a:t>0.92</a:t>
                      </a:r>
                      <a:endParaRPr lang="en-US" sz="2800" dirty="0"/>
                    </a:p>
                  </a:txBody>
                  <a:tcPr marL="60000" marR="60000" marT="18000" marB="18000" anchor="ctr">
                    <a:lnL>
                      <a:noFill/>
                    </a:lnL>
                    <a:lnR>
                      <a:noFill/>
                    </a:lnR>
                    <a:lnT>
                      <a:noFill/>
                    </a:lnT>
                    <a:lnB>
                      <a:noFill/>
                    </a:lnB>
                    <a:noFill/>
                  </a:tcPr>
                </a:tc>
                <a:tc>
                  <a:txBody>
                    <a:bodyPr/>
                    <a:lstStyle/>
                    <a:p>
                      <a:pPr algn="ctr"/>
                      <a:r>
                        <a:rPr lang="en-US" sz="2800" dirty="0"/>
                        <a:t>0.91</a:t>
                      </a:r>
                      <a:endParaRPr lang="en-US" sz="2800" dirty="0"/>
                    </a:p>
                  </a:txBody>
                  <a:tcPr marL="60000" marR="60000" marT="18000" marB="18000" anchor="ctr">
                    <a:lnL>
                      <a:noFill/>
                    </a:lnL>
                    <a:lnR>
                      <a:noFill/>
                    </a:lnR>
                    <a:lnT>
                      <a:noFill/>
                    </a:lnT>
                    <a:lnB>
                      <a:noFill/>
                    </a:lnB>
                    <a:noFill/>
                  </a:tcPr>
                </a:tc>
                <a:tc>
                  <a:txBody>
                    <a:bodyPr/>
                    <a:lstStyle/>
                    <a:p>
                      <a:pPr algn="ctr"/>
                      <a:r>
                        <a:rPr lang="en-US" sz="2800" dirty="0"/>
                        <a:t>0.65 (0.18–2.41)</a:t>
                      </a:r>
                      <a:endParaRPr lang="en-US" sz="2800" dirty="0"/>
                    </a:p>
                  </a:txBody>
                  <a:tcPr marL="60000" marR="60000" marT="18000" marB="18000" anchor="ctr">
                    <a:lnL>
                      <a:noFill/>
                    </a:lnL>
                    <a:lnR>
                      <a:noFill/>
                    </a:lnR>
                    <a:lnT>
                      <a:noFill/>
                    </a:lnT>
                    <a:lnB>
                      <a:noFill/>
                    </a:lnB>
                    <a:noFill/>
                  </a:tcPr>
                </a:tc>
                <a:tc>
                  <a:txBody>
                    <a:bodyPr/>
                    <a:lstStyle/>
                    <a:p>
                      <a:pPr algn="ctr"/>
                      <a:r>
                        <a:rPr lang="en-US" sz="2800" dirty="0"/>
                        <a:t>0.52</a:t>
                      </a:r>
                      <a:endParaRPr lang="en-US" sz="2800" dirty="0"/>
                    </a:p>
                  </a:txBody>
                  <a:tcPr marL="60000" marR="60000" marT="18000" marB="18000" anchor="ctr">
                    <a:lnL>
                      <a:noFill/>
                    </a:lnL>
                    <a:lnR>
                      <a:noFill/>
                    </a:lnR>
                    <a:lnT>
                      <a:noFill/>
                    </a:lnT>
                    <a:lnB>
                      <a:noFill/>
                    </a:lnB>
                    <a:noFill/>
                  </a:tcPr>
                </a:tc>
                <a:tc>
                  <a:txBody>
                    <a:bodyPr/>
                    <a:lstStyle/>
                    <a:p>
                      <a:pPr algn="ctr"/>
                      <a:r>
                        <a:rPr lang="en-US" sz="2800" dirty="0"/>
                        <a:t>0.74</a:t>
                      </a:r>
                      <a:endParaRPr lang="en-US" sz="2800" dirty="0"/>
                    </a:p>
                  </a:txBody>
                  <a:tcPr marL="60000" marR="60000" marT="18000" marB="18000" anchor="ctr">
                    <a:lnL>
                      <a:noFill/>
                    </a:lnL>
                    <a:lnR>
                      <a:noFill/>
                    </a:lnR>
                    <a:lnT>
                      <a:noFill/>
                    </a:lnT>
                    <a:lnB>
                      <a:noFill/>
                    </a:lnB>
                    <a:noFill/>
                  </a:tcPr>
                </a:tc>
              </a:tr>
              <a:tr h="530352">
                <a:tc>
                  <a:txBody>
                    <a:bodyPr/>
                    <a:lstStyle/>
                    <a:p>
                      <a:pPr algn="l"/>
                      <a:r>
                        <a:rPr lang="en-US" sz="2800" dirty="0"/>
                        <a:t>TLR × treatment</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l"/>
                      <a:r>
                        <a:rPr lang="en-US" sz="2800" dirty="0"/>
                        <a:t>Landmark responder model†</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2.47 (0.75–7.75)</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0.14</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1.13‡</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0.88 (0.21–3.38)</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0.85</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0.63</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r>
            </a:tbl>
          </a:graphicData>
        </a:graphic>
      </p:graphicFrame>
      <p:sp>
        <p:nvSpPr>
          <p:cNvPr id="114" name="Table 1 footnote"/>
          <p:cNvSpPr/>
          <p:nvPr/>
        </p:nvSpPr>
        <p:spPr>
          <a:xfrm>
            <a:off x="12929616" y="25333452"/>
            <a:ext cx="25594056" cy="1046988"/>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lIns="109728" rIns="109728" tIns="36576" bIns="36576" rtlCol="0" anchor="ctr">
            <a:noAutofit/>
          </a:bodyPr>
          <a:lstStyle/>
          <a:p>
            <a:r>
              <a:rPr lang="en-US" sz="2200" dirty="0"/>
              <a:t xml:space="preserve">n = 68; p = penalized likelihood-ratio test. </a:t>
            </a:r>
            <a:r>
              <a:rPr lang="en-US" sz="2200" b="1" dirty="0"/>
              <a:t xml:space="preserve">Unified model: </a:t>
            </a:r>
            <a:r>
              <a:rPr lang="en-US" sz="2200" dirty="0"/>
              <a:t>age + sex + treatment + CRP + TMB/</a:t>
            </a:r>
            <a:r>
              <a:rPr lang="en-US" sz="2200" i="1" dirty="0"/>
              <a:t>BRAF</a:t>
            </a:r>
            <a:r>
              <a:rPr lang="en-US" sz="2200" dirty="0"/>
              <a:t xml:space="preserve"> + both treatment × biomarker interactions. </a:t>
            </a:r>
            <a:r>
              <a:rPr lang="en-US" sz="2200" b="1" dirty="0"/>
              <a:t xml:space="preserve">Ridge: </a:t>
            </a:r>
            <a:r>
              <a:rPr lang="en-US" sz="2200" dirty="0"/>
              <a:t xml:space="preserve">L2-penalized Cox with cross-validated penalty on the biomarker (or TLR) main effects and interactions; point estimates. </a:t>
            </a:r>
            <a:r>
              <a:rPr lang="en-US" sz="2200" b="1" dirty="0"/>
              <a:t>†</a:t>
            </a:r>
            <a:r>
              <a:rPr lang="en-US" sz="2200" dirty="0"/>
              <a:t>Week-9 landmark, TLR-classified patients (n = 65 OS, 56 PFS); the responder model adjusts for age, sex, CRP and TMB/</a:t>
            </a:r>
            <a:r>
              <a:rPr lang="en-US" sz="2200" i="1" dirty="0"/>
              <a:t>BRAF</a:t>
            </a:r>
            <a:r>
              <a:rPr lang="en-US" sz="2200" dirty="0"/>
              <a:t xml:space="preserve">; TLR is measured on treatment, so this is not a treatment-selection estimate. </a:t>
            </a:r>
            <a:r>
              <a:rPr lang="en-US" sz="2200" b="1" dirty="0"/>
              <a:t>‡</a:t>
            </a:r>
            <a:r>
              <a:rPr lang="en-US" sz="2200" dirty="0"/>
              <a:t xml:space="preserve">0.92–1.80 across cross-validation splits. </a:t>
            </a:r>
            <a:r>
              <a:rPr lang="en-US" sz="2200" b="1" dirty="0"/>
              <a:t>CI</a:t>
            </a:r>
            <a:r>
              <a:rPr lang="en-US" sz="2200" dirty="0"/>
              <a:t xml:space="preserve">, confidence interval; </a:t>
            </a:r>
            <a:r>
              <a:rPr lang="en-US" sz="2200" b="1" dirty="0"/>
              <a:t>HR</a:t>
            </a:r>
            <a:r>
              <a:rPr lang="en-US" sz="2200" dirty="0"/>
              <a:t xml:space="preserve">, hazard ratio; </a:t>
            </a:r>
            <a:r>
              <a:rPr lang="en-US" sz="2200" b="1" dirty="0"/>
              <a:t>TLR</a:t>
            </a:r>
            <a:r>
              <a:rPr lang="en-US" sz="2200" dirty="0"/>
              <a:t xml:space="preserve">, target lesion reduction; </a:t>
            </a:r>
            <a:r>
              <a:rPr lang="en-US" sz="2200" b="1" dirty="0"/>
              <a:t>TMB</a:t>
            </a:r>
            <a:r>
              <a:rPr lang="en-US" sz="2200" dirty="0"/>
              <a:t>, tumor mutational burden.</a:t>
            </a:r>
            <a:endParaRPr lang="en-US" sz="2200" dirty="0"/>
          </a:p>
        </p:txBody>
      </p:sp>
      <p:pic>
        <p:nvPicPr>
          <p:cNvPr id="115" name="Figure 3 forest plot" descr="Forest plot of treatment by biomarker interaction hazard ratios"/>
          <p:cNvPicPr>
            <a:picLocks noChangeAspect="1"/>
          </p:cNvPicPr>
          <p:nvPr/>
        </p:nvPicPr>
        <p:blipFill>
          <a:blip r:embed="rId6"/>
          <a:stretch>
            <a:fillRect/>
          </a:stretch>
        </p:blipFill>
        <p:spPr>
          <a:xfrm>
            <a:off x="38889432" y="19883628"/>
            <a:ext cx="11978640" cy="6400800"/>
          </a:xfrm>
          <a:prstGeom prst="rect">
            <a:avLst/>
          </a:prstGeom>
        </p:spPr>
      </p:pic>
      <p:sp>
        <p:nvSpPr>
          <p:cNvPr id="116" name="Conclusion header"/>
          <p:cNvSpPr/>
          <p:nvPr/>
        </p:nvSpPr>
        <p:spPr>
          <a:xfrm>
            <a:off x="365760" y="26654760"/>
            <a:ext cx="50502312" cy="868680"/>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5400" b="1" dirty="0">
                <a:solidFill>
                  <a:prstClr val="white"/>
                </a:solidFill>
                <a:latin typeface="Calibri" panose="020F0502020204030204"/>
                <a:ea typeface="+mn-ea"/>
                <a:cs typeface="+mn-cs"/>
              </a:rPr>
              <a:t>Conclusion</a:t>
            </a:r>
          </a:p>
        </p:txBody>
      </p:sp>
      <p:sp>
        <p:nvSpPr>
          <p:cNvPr id="117" name="Conclusion box"/>
          <p:cNvSpPr/>
          <p:nvPr/>
        </p:nvSpPr>
        <p:spPr>
          <a:xfrm>
            <a:off x="365760" y="27706320"/>
            <a:ext cx="50502312" cy="2011680"/>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rtlCol="0" anchor="ctr">
            <a:noAutofit/>
          </a:bodyPr>
          <a:lstStyle/>
          <a:p>
            <a:pPr algn="ctr"/>
            <a:r>
              <a:rPr lang="en-US" sz="4400" b="1" dirty="0"/>
              <a:t>In this exploratory analysis, biomarker signals in MSS/pMMR mCRC were predominantly prognostic rather than predictive. The CRP × treatment interaction for PFS is hypothesis-generating and warrants evaluation in adequately powered prospective studies.</a:t>
            </a:r>
          </a:p>
        </p:txBody>
      </p:sp>
      <p:pic>
        <p:nvPicPr>
          <p:cNvPr id="118" name="Ahus logo" descr="Akershus University Hospital Cancer Center logo"/>
          <p:cNvPicPr>
            <a:picLocks noChangeAspect="1"/>
          </p:cNvPicPr>
          <p:nvPr/>
        </p:nvPicPr>
        <p:blipFill>
          <a:blip r:embed="rId4"/>
          <a:srcRect b="50329"/>
          <a:stretch>
            <a:fillRect/>
          </a:stretch>
        </p:blipFill>
        <p:spPr>
          <a:xfrm>
            <a:off x="338328" y="29983176"/>
            <a:ext cx="9272016" cy="1197864"/>
          </a:xfrm>
          <a:prstGeom prst="rect">
            <a:avLst/>
          </a:prstGeom>
        </p:spPr>
      </p:pic>
      <p:sp>
        <p:nvSpPr>
          <p:cNvPr id="119" name="Disclosure and funding"/>
          <p:cNvSpPr txBox="1"/>
          <p:nvPr/>
        </p:nvSpPr>
        <p:spPr>
          <a:xfrm>
            <a:off x="9966960" y="29809440"/>
            <a:ext cx="24963120" cy="1463040"/>
          </a:xfrm>
          <a:prstGeom prst="rect">
            <a:avLst/>
          </a:prstGeom>
          <a:noFill/>
        </p:spPr>
        <p:txBody>
          <a:bodyPr wrap="square" rtlCol="0" anchor="ctr">
            <a:noAutofit/>
          </a:bodyPr>
          <a:lstStyle/>
          <a:p>
            <a:r>
              <a:rPr lang="en-US" sz="2400" b="1" dirty="0"/>
              <a:t xml:space="preserve">Disclosure: </a:t>
            </a:r>
            <a:r>
              <a:rPr lang="en-US" sz="2400" dirty="0"/>
              <a:t xml:space="preserve">B.P. Geisler has no potential conflicts of interest to declare. </a:t>
            </a:r>
            <a:r>
              <a:rPr lang="en-US" sz="2400" b="1" dirty="0"/>
              <a:t xml:space="preserve">Funding: </a:t>
            </a:r>
            <a:r>
              <a:rPr lang="en-US" sz="2400" dirty="0"/>
              <a:t>Study sponsored by European Union, Research Council of Norway, Norwegian Cancer Society, South-Eastern Regional Health Authority, and Bristol-Myers Squibb and Sigma2 AS (in-kind donations). Views and opinions expressed are, however, those of the authors only and do not necessarily reflect those of the European Union or the European Health and Digital Executive Agency (HaDEA).</a:t>
            </a:r>
          </a:p>
        </p:txBody>
      </p:sp>
      <p:sp>
        <p:nvSpPr>
          <p:cNvPr id="120" name="Email"/>
          <p:cNvSpPr txBox="1"/>
          <p:nvPr/>
        </p:nvSpPr>
        <p:spPr>
          <a:xfrm>
            <a:off x="35021520" y="29919168"/>
            <a:ext cx="9509760" cy="822960"/>
          </a:xfrm>
          <a:prstGeom prst="rect">
            <a:avLst/>
          </a:prstGeom>
          <a:noFill/>
        </p:spPr>
        <p:txBody>
          <a:bodyPr wrap="square" rtlCol="0" anchor="ctr">
            <a:noAutofit/>
          </a:bodyPr>
          <a:lstStyle/>
          <a:p>
            <a:r>
              <a:rPr lang="en-US" sz="4400" b="1" baseline="30000" dirty="0"/>
              <a:t xml:space="preserve">@ </a:t>
            </a:r>
            <a:r>
              <a:rPr lang="en-US" sz="4400" b="1" dirty="0"/>
              <a:t>b.p.geisler@medisin.uio.no</a:t>
            </a:r>
          </a:p>
        </p:txBody>
      </p:sp>
      <p:pic>
        <p:nvPicPr>
          <p:cNvPr id="121" name="UiO logo" descr="University of Oslo logo"/>
          <p:cNvPicPr>
            <a:picLocks noChangeAspect="1"/>
          </p:cNvPicPr>
          <p:nvPr/>
        </p:nvPicPr>
        <p:blipFill>
          <a:blip r:embed="rId3"/>
          <a:stretch>
            <a:fillRect/>
          </a:stretch>
        </p:blipFill>
        <p:spPr>
          <a:xfrm>
            <a:off x="44686728" y="29910024"/>
            <a:ext cx="6163056" cy="1033272"/>
          </a:xfrm>
          <a:prstGeom prst="rect">
            <a:avLst/>
          </a:prstGeom>
        </p:spPr>
      </p:pic>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463b6811-b0a4-4b2a-b932-72c4c970c5d2}" enabled="0" method="" siteId="{463b6811-b0a4-4b2a-b932-72c4c970c5d2}" removed="1"/>
</clbl:labelList>
</file>

<file path=docProps/app.xml><?xml version="1.0" encoding="utf-8"?>
<Properties xmlns="http://schemas.openxmlformats.org/officeDocument/2006/extended-properties" xmlns:vt="http://schemas.openxmlformats.org/officeDocument/2006/docPropsVTypes">
  <Template>Office 2013 - 2022 Theme</Template>
  <TotalTime>29659</TotalTime>
  <Words>1384</Words>
  <Application>Microsoft Office PowerPoint</Application>
  <PresentationFormat>Custom</PresentationFormat>
  <Paragraphs>520</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Courier New</vt:lpstr>
      <vt:lpstr>Office 2013 - 2022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ESMO 2026 poster 4355P: Biomarker signals in MSS/pMMR mCRC are predominantly prognostic, not predictive (METIMMOX)</dc:title>
  <dc:creator>Sebastian Meltzer</dc:creator>
  <cp:lastModifiedBy>Benjamin Peter Geisler</cp:lastModifiedBy>
  <cp:revision>185</cp:revision>
  <dcterms:created xsi:type="dcterms:W3CDTF">2022-02-28T12:37:06Z</dcterms:created>
  <dcterms:modified xsi:type="dcterms:W3CDTF">2026-09-18T07:53:26Z</dcterms:modified>
</cp:coreProperties>
</file>
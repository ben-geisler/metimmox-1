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3"/>
  </p:notesMasterIdLst>
  <p:sldIdLst>
    <p:sldId id="256" r:id="rId2"/>
  </p:sldIdLst>
  <p:sldSz cx="51120675" cy="313213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16101" userDrawn="1">
          <p15:clr>
            <a:srgbClr val="A4A3A4"/>
          </p15:clr>
        </p15:guide>
        <p15:guide id="3" orient="horz" pos="1925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3C8"/>
    <a:srgbClr val="B41672"/>
    <a:srgbClr val="00AEEF"/>
    <a:srgbClr val="84ABD9"/>
    <a:srgbClr val="00B8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ddels stil 2 – uthev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4997"/>
    <p:restoredTop sz="95055"/>
  </p:normalViewPr>
  <p:slideViewPr>
    <p:cSldViewPr snapToGrid="0" snapToObjects="1">
      <p:cViewPr varScale="1">
        <p:scale>
          <a:sx n="33" d="100"/>
          <a:sy n="33" d="100"/>
        </p:scale>
        <p:origin x="2214" y="114"/>
      </p:cViewPr>
      <p:guideLst>
        <p:guide pos="16101"/>
        <p:guide orient="horz" pos="1925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Plassholder for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CEAEC2-C692-4B46-978F-109B22A150D2}" type="datetimeFigureOut">
              <a:rPr lang="en-US" smtClean="0"/>
              <a:t>9/18/2026</a:t>
            </a:fld>
            <a:endParaRPr lang="en-US" dirty="0"/>
          </a:p>
        </p:txBody>
      </p:sp>
      <p:sp>
        <p:nvSpPr>
          <p:cNvPr id="4" name="Plassholder for lysbilde 3"/>
          <p:cNvSpPr>
            <a:spLocks noGrp="1" noRot="1" noChangeAspect="1"/>
          </p:cNvSpPr>
          <p:nvPr>
            <p:ph type="sldImg" idx="2"/>
          </p:nvPr>
        </p:nvSpPr>
        <p:spPr>
          <a:xfrm>
            <a:off x="911225" y="1143000"/>
            <a:ext cx="503555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Plassholder for nota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endParaRPr lang="en-US"/>
          </a:p>
        </p:txBody>
      </p:sp>
      <p:sp>
        <p:nvSpPr>
          <p:cNvPr id="6" name="Plassholder for bunn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Plassholder for lysbil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F9ECD2-5647-1F4F-BF62-73CAE4D174AC}" type="slidenum">
              <a:rPr lang="en-US" smtClean="0"/>
              <a:t>‹#›</a:t>
            </a:fld>
            <a:endParaRPr lang="en-US" dirty="0"/>
          </a:p>
        </p:txBody>
      </p:sp>
    </p:spTree>
    <p:extLst>
      <p:ext uri="{BB962C8B-B14F-4D97-AF65-F5344CB8AC3E}">
        <p14:creationId xmlns:p14="http://schemas.microsoft.com/office/powerpoint/2010/main" val="2631319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ssholder for lysbilde 1"/>
          <p:cNvSpPr>
            <a:spLocks noGrp="1" noRot="1" noChangeAspect="1"/>
          </p:cNvSpPr>
          <p:nvPr>
            <p:ph type="sldImg"/>
          </p:nvPr>
        </p:nvSpPr>
        <p:spPr>
          <a:xfrm>
            <a:off x="911225" y="1143000"/>
            <a:ext cx="5035550" cy="3086100"/>
          </a:xfrm>
        </p:spPr>
        <p:txBody>
          <a:bodyPr/>
          <a:lstStyle/>
          <a:p>
            <a:endParaRPr lang="nb-NO" dirty="0"/>
          </a:p>
        </p:txBody>
      </p:sp>
      <p:sp>
        <p:nvSpPr>
          <p:cNvPr id="3" name="Plassholder for notater 2"/>
          <p:cNvSpPr>
            <a:spLocks noGrp="1"/>
          </p:cNvSpPr>
          <p:nvPr>
            <p:ph type="body" idx="1"/>
          </p:nvPr>
        </p:nvSpPr>
        <p:spPr/>
        <p:txBody>
          <a:bodyPr/>
          <a:lstStyle/>
          <a:p>
            <a:endParaRPr lang="en-US" dirty="0"/>
          </a:p>
        </p:txBody>
      </p:sp>
      <p:sp>
        <p:nvSpPr>
          <p:cNvPr id="4" name="Plassholder for lysbildenummer 3"/>
          <p:cNvSpPr>
            <a:spLocks noGrp="1"/>
          </p:cNvSpPr>
          <p:nvPr>
            <p:ph type="sldNum" sz="quarter" idx="5"/>
          </p:nvPr>
        </p:nvSpPr>
        <p:spPr/>
        <p:txBody>
          <a:bodyPr/>
          <a:lstStyle/>
          <a:p>
            <a:fld id="{87F9ECD2-5647-1F4F-BF62-73CAE4D174AC}" type="slidenum">
              <a:rPr lang="en-US" smtClean="0"/>
              <a:t>1</a:t>
            </a:fld>
            <a:endParaRPr lang="en-US" dirty="0"/>
          </a:p>
        </p:txBody>
      </p:sp>
    </p:spTree>
    <p:extLst>
      <p:ext uri="{BB962C8B-B14F-4D97-AF65-F5344CB8AC3E}">
        <p14:creationId xmlns:p14="http://schemas.microsoft.com/office/powerpoint/2010/main" val="5348022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390085" y="5125977"/>
            <a:ext cx="38340506" cy="10904479"/>
          </a:xfrm>
        </p:spPr>
        <p:txBody>
          <a:bodyPr anchor="b"/>
          <a:lstStyle>
            <a:lvl1pPr algn="ctr">
              <a:defRPr sz="25158"/>
            </a:lvl1pPr>
          </a:lstStyle>
          <a:p>
            <a:r>
              <a:rPr lang="en-US"/>
              <a:t>Click to edit Master title style</a:t>
            </a:r>
            <a:endParaRPr lang="en-US" dirty="0"/>
          </a:p>
        </p:txBody>
      </p:sp>
      <p:sp>
        <p:nvSpPr>
          <p:cNvPr id="3" name="Subtitle 2"/>
          <p:cNvSpPr>
            <a:spLocks noGrp="1"/>
          </p:cNvSpPr>
          <p:nvPr>
            <p:ph type="subTitle" idx="1"/>
          </p:nvPr>
        </p:nvSpPr>
        <p:spPr>
          <a:xfrm>
            <a:off x="6390085" y="16450974"/>
            <a:ext cx="38340506" cy="7562080"/>
          </a:xfrm>
        </p:spPr>
        <p:txBody>
          <a:bodyPr/>
          <a:lstStyle>
            <a:lvl1pPr marL="0" indent="0" algn="ctr">
              <a:buNone/>
              <a:defRPr sz="10063"/>
            </a:lvl1pPr>
            <a:lvl2pPr marL="1917040" indent="0" algn="ctr">
              <a:buNone/>
              <a:defRPr sz="8386"/>
            </a:lvl2pPr>
            <a:lvl3pPr marL="3834079" indent="0" algn="ctr">
              <a:buNone/>
              <a:defRPr sz="7547"/>
            </a:lvl3pPr>
            <a:lvl4pPr marL="5751119" indent="0" algn="ctr">
              <a:buNone/>
              <a:defRPr sz="6709"/>
            </a:lvl4pPr>
            <a:lvl5pPr marL="7668158" indent="0" algn="ctr">
              <a:buNone/>
              <a:defRPr sz="6709"/>
            </a:lvl5pPr>
            <a:lvl6pPr marL="9585198" indent="0" algn="ctr">
              <a:buNone/>
              <a:defRPr sz="6709"/>
            </a:lvl6pPr>
            <a:lvl7pPr marL="11502238" indent="0" algn="ctr">
              <a:buNone/>
              <a:defRPr sz="6709"/>
            </a:lvl7pPr>
            <a:lvl8pPr marL="13419277" indent="0" algn="ctr">
              <a:buNone/>
              <a:defRPr sz="6709"/>
            </a:lvl8pPr>
            <a:lvl9pPr marL="15336317" indent="0" algn="ctr">
              <a:buNone/>
              <a:defRPr sz="670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19653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9544323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87921" y="7808597"/>
            <a:ext cx="44091582" cy="13028820"/>
          </a:xfrm>
        </p:spPr>
        <p:txBody>
          <a:bodyPr anchor="b"/>
          <a:lstStyle>
            <a:lvl1pPr>
              <a:defRPr sz="25158"/>
            </a:lvl1pPr>
          </a:lstStyle>
          <a:p>
            <a:r>
              <a:rPr lang="en-US"/>
              <a:t>Click to edit Master title style</a:t>
            </a:r>
            <a:endParaRPr lang="en-US" dirty="0"/>
          </a:p>
        </p:txBody>
      </p:sp>
      <p:sp>
        <p:nvSpPr>
          <p:cNvPr id="3" name="Text Placeholder 2"/>
          <p:cNvSpPr>
            <a:spLocks noGrp="1"/>
          </p:cNvSpPr>
          <p:nvPr>
            <p:ph type="body" idx="1"/>
          </p:nvPr>
        </p:nvSpPr>
        <p:spPr>
          <a:xfrm>
            <a:off x="3487921" y="20960675"/>
            <a:ext cx="44091582" cy="6851548"/>
          </a:xfrm>
        </p:spPr>
        <p:txBody>
          <a:bodyPr/>
          <a:lstStyle>
            <a:lvl1pPr marL="0" indent="0">
              <a:buNone/>
              <a:defRPr sz="10063">
                <a:solidFill>
                  <a:schemeClr val="tx1">
                    <a:tint val="75000"/>
                  </a:schemeClr>
                </a:solidFill>
              </a:defRPr>
            </a:lvl1pPr>
            <a:lvl2pPr marL="1917040" indent="0">
              <a:buNone/>
              <a:defRPr sz="8386">
                <a:solidFill>
                  <a:schemeClr val="tx1">
                    <a:tint val="75000"/>
                  </a:schemeClr>
                </a:solidFill>
              </a:defRPr>
            </a:lvl2pPr>
            <a:lvl3pPr marL="3834079" indent="0">
              <a:buNone/>
              <a:defRPr sz="7547">
                <a:solidFill>
                  <a:schemeClr val="tx1">
                    <a:tint val="75000"/>
                  </a:schemeClr>
                </a:solidFill>
              </a:defRPr>
            </a:lvl3pPr>
            <a:lvl4pPr marL="5751119" indent="0">
              <a:buNone/>
              <a:defRPr sz="6709">
                <a:solidFill>
                  <a:schemeClr val="tx1">
                    <a:tint val="75000"/>
                  </a:schemeClr>
                </a:solidFill>
              </a:defRPr>
            </a:lvl4pPr>
            <a:lvl5pPr marL="7668158" indent="0">
              <a:buNone/>
              <a:defRPr sz="6709">
                <a:solidFill>
                  <a:schemeClr val="tx1">
                    <a:tint val="75000"/>
                  </a:schemeClr>
                </a:solidFill>
              </a:defRPr>
            </a:lvl5pPr>
            <a:lvl6pPr marL="9585198" indent="0">
              <a:buNone/>
              <a:defRPr sz="6709">
                <a:solidFill>
                  <a:schemeClr val="tx1">
                    <a:tint val="75000"/>
                  </a:schemeClr>
                </a:solidFill>
              </a:defRPr>
            </a:lvl6pPr>
            <a:lvl7pPr marL="11502238" indent="0">
              <a:buNone/>
              <a:defRPr sz="6709">
                <a:solidFill>
                  <a:schemeClr val="tx1">
                    <a:tint val="75000"/>
                  </a:schemeClr>
                </a:solidFill>
              </a:defRPr>
            </a:lvl7pPr>
            <a:lvl8pPr marL="13419277" indent="0">
              <a:buNone/>
              <a:defRPr sz="6709">
                <a:solidFill>
                  <a:schemeClr val="tx1">
                    <a:tint val="75000"/>
                  </a:schemeClr>
                </a:solidFill>
              </a:defRPr>
            </a:lvl8pPr>
            <a:lvl9pPr marL="15336317" indent="0">
              <a:buNone/>
              <a:defRPr sz="6709">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1359208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514546" y="8337866"/>
            <a:ext cx="21726287" cy="19873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5879842" y="8337866"/>
            <a:ext cx="21726287" cy="19873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649038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521205" y="1667576"/>
            <a:ext cx="44091582" cy="6054018"/>
          </a:xfrm>
        </p:spPr>
        <p:txBody>
          <a:bodyPr/>
          <a:lstStyle/>
          <a:p>
            <a:r>
              <a:rPr lang="en-US"/>
              <a:t>Click to edit Master title style</a:t>
            </a:r>
            <a:endParaRPr lang="en-US" dirty="0"/>
          </a:p>
        </p:txBody>
      </p:sp>
      <p:sp>
        <p:nvSpPr>
          <p:cNvPr id="3" name="Text Placeholder 2"/>
          <p:cNvSpPr>
            <a:spLocks noGrp="1"/>
          </p:cNvSpPr>
          <p:nvPr>
            <p:ph type="body" idx="1"/>
          </p:nvPr>
        </p:nvSpPr>
        <p:spPr>
          <a:xfrm>
            <a:off x="3521207" y="7678089"/>
            <a:ext cx="21626440" cy="3762913"/>
          </a:xfrm>
        </p:spPr>
        <p:txBody>
          <a:bodyPr anchor="b"/>
          <a:lstStyle>
            <a:lvl1pPr marL="0" indent="0">
              <a:buNone/>
              <a:defRPr sz="10063" b="1"/>
            </a:lvl1pPr>
            <a:lvl2pPr marL="1917040" indent="0">
              <a:buNone/>
              <a:defRPr sz="8386" b="1"/>
            </a:lvl2pPr>
            <a:lvl3pPr marL="3834079" indent="0">
              <a:buNone/>
              <a:defRPr sz="7547" b="1"/>
            </a:lvl3pPr>
            <a:lvl4pPr marL="5751119" indent="0">
              <a:buNone/>
              <a:defRPr sz="6709" b="1"/>
            </a:lvl4pPr>
            <a:lvl5pPr marL="7668158" indent="0">
              <a:buNone/>
              <a:defRPr sz="6709" b="1"/>
            </a:lvl5pPr>
            <a:lvl6pPr marL="9585198" indent="0">
              <a:buNone/>
              <a:defRPr sz="6709" b="1"/>
            </a:lvl6pPr>
            <a:lvl7pPr marL="11502238" indent="0">
              <a:buNone/>
              <a:defRPr sz="6709" b="1"/>
            </a:lvl7pPr>
            <a:lvl8pPr marL="13419277" indent="0">
              <a:buNone/>
              <a:defRPr sz="6709" b="1"/>
            </a:lvl8pPr>
            <a:lvl9pPr marL="15336317" indent="0">
              <a:buNone/>
              <a:defRPr sz="6709" b="1"/>
            </a:lvl9pPr>
          </a:lstStyle>
          <a:p>
            <a:pPr lvl="0"/>
            <a:r>
              <a:rPr lang="en-US"/>
              <a:t>Click to edit Master text styles</a:t>
            </a:r>
          </a:p>
        </p:txBody>
      </p:sp>
      <p:sp>
        <p:nvSpPr>
          <p:cNvPr id="4" name="Content Placeholder 3"/>
          <p:cNvSpPr>
            <a:spLocks noGrp="1"/>
          </p:cNvSpPr>
          <p:nvPr>
            <p:ph sz="half" idx="2"/>
          </p:nvPr>
        </p:nvSpPr>
        <p:spPr>
          <a:xfrm>
            <a:off x="3521207" y="11441002"/>
            <a:ext cx="21626440" cy="168279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5879842" y="7678089"/>
            <a:ext cx="21732945" cy="3762913"/>
          </a:xfrm>
        </p:spPr>
        <p:txBody>
          <a:bodyPr anchor="b"/>
          <a:lstStyle>
            <a:lvl1pPr marL="0" indent="0">
              <a:buNone/>
              <a:defRPr sz="10063" b="1"/>
            </a:lvl1pPr>
            <a:lvl2pPr marL="1917040" indent="0">
              <a:buNone/>
              <a:defRPr sz="8386" b="1"/>
            </a:lvl2pPr>
            <a:lvl3pPr marL="3834079" indent="0">
              <a:buNone/>
              <a:defRPr sz="7547" b="1"/>
            </a:lvl3pPr>
            <a:lvl4pPr marL="5751119" indent="0">
              <a:buNone/>
              <a:defRPr sz="6709" b="1"/>
            </a:lvl4pPr>
            <a:lvl5pPr marL="7668158" indent="0">
              <a:buNone/>
              <a:defRPr sz="6709" b="1"/>
            </a:lvl5pPr>
            <a:lvl6pPr marL="9585198" indent="0">
              <a:buNone/>
              <a:defRPr sz="6709" b="1"/>
            </a:lvl6pPr>
            <a:lvl7pPr marL="11502238" indent="0">
              <a:buNone/>
              <a:defRPr sz="6709" b="1"/>
            </a:lvl7pPr>
            <a:lvl8pPr marL="13419277" indent="0">
              <a:buNone/>
              <a:defRPr sz="6709" b="1"/>
            </a:lvl8pPr>
            <a:lvl9pPr marL="15336317" indent="0">
              <a:buNone/>
              <a:defRPr sz="6709" b="1"/>
            </a:lvl9pPr>
          </a:lstStyle>
          <a:p>
            <a:pPr lvl="0"/>
            <a:r>
              <a:rPr lang="en-US"/>
              <a:t>Click to edit Master text styles</a:t>
            </a:r>
          </a:p>
        </p:txBody>
      </p:sp>
      <p:sp>
        <p:nvSpPr>
          <p:cNvPr id="6" name="Content Placeholder 5"/>
          <p:cNvSpPr>
            <a:spLocks noGrp="1"/>
          </p:cNvSpPr>
          <p:nvPr>
            <p:ph sz="quarter" idx="4"/>
          </p:nvPr>
        </p:nvSpPr>
        <p:spPr>
          <a:xfrm>
            <a:off x="25879842" y="11441002"/>
            <a:ext cx="21732945" cy="168279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9866416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9643012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246327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1207" y="2088092"/>
            <a:ext cx="16487747" cy="7308321"/>
          </a:xfrm>
        </p:spPr>
        <p:txBody>
          <a:bodyPr anchor="b"/>
          <a:lstStyle>
            <a:lvl1pPr>
              <a:defRPr sz="13418"/>
            </a:lvl1pPr>
          </a:lstStyle>
          <a:p>
            <a:r>
              <a:rPr lang="en-US"/>
              <a:t>Click to edit Master title style</a:t>
            </a:r>
            <a:endParaRPr lang="en-US" dirty="0"/>
          </a:p>
        </p:txBody>
      </p:sp>
      <p:sp>
        <p:nvSpPr>
          <p:cNvPr id="3" name="Content Placeholder 2"/>
          <p:cNvSpPr>
            <a:spLocks noGrp="1"/>
          </p:cNvSpPr>
          <p:nvPr>
            <p:ph idx="1"/>
          </p:nvPr>
        </p:nvSpPr>
        <p:spPr>
          <a:xfrm>
            <a:off x="21732945" y="4509700"/>
            <a:ext cx="25879842" cy="22258477"/>
          </a:xfrm>
        </p:spPr>
        <p:txBody>
          <a:bodyPr/>
          <a:lstStyle>
            <a:lvl1pPr>
              <a:defRPr sz="13418"/>
            </a:lvl1pPr>
            <a:lvl2pPr>
              <a:defRPr sz="11740"/>
            </a:lvl2pPr>
            <a:lvl3pPr>
              <a:defRPr sz="10063"/>
            </a:lvl3pPr>
            <a:lvl4pPr>
              <a:defRPr sz="8386"/>
            </a:lvl4pPr>
            <a:lvl5pPr>
              <a:defRPr sz="8386"/>
            </a:lvl5pPr>
            <a:lvl6pPr>
              <a:defRPr sz="8386"/>
            </a:lvl6pPr>
            <a:lvl7pPr>
              <a:defRPr sz="8386"/>
            </a:lvl7pPr>
            <a:lvl8pPr>
              <a:defRPr sz="8386"/>
            </a:lvl8pPr>
            <a:lvl9pPr>
              <a:defRPr sz="838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521207" y="9396413"/>
            <a:ext cx="16487747" cy="17408016"/>
          </a:xfrm>
        </p:spPr>
        <p:txBody>
          <a:bodyPr/>
          <a:lstStyle>
            <a:lvl1pPr marL="0" indent="0">
              <a:buNone/>
              <a:defRPr sz="6709"/>
            </a:lvl1pPr>
            <a:lvl2pPr marL="1917040" indent="0">
              <a:buNone/>
              <a:defRPr sz="5870"/>
            </a:lvl2pPr>
            <a:lvl3pPr marL="3834079" indent="0">
              <a:buNone/>
              <a:defRPr sz="5032"/>
            </a:lvl3pPr>
            <a:lvl4pPr marL="5751119" indent="0">
              <a:buNone/>
              <a:defRPr sz="4193"/>
            </a:lvl4pPr>
            <a:lvl5pPr marL="7668158" indent="0">
              <a:buNone/>
              <a:defRPr sz="4193"/>
            </a:lvl5pPr>
            <a:lvl6pPr marL="9585198" indent="0">
              <a:buNone/>
              <a:defRPr sz="4193"/>
            </a:lvl6pPr>
            <a:lvl7pPr marL="11502238" indent="0">
              <a:buNone/>
              <a:defRPr sz="4193"/>
            </a:lvl7pPr>
            <a:lvl8pPr marL="13419277" indent="0">
              <a:buNone/>
              <a:defRPr sz="4193"/>
            </a:lvl8pPr>
            <a:lvl9pPr marL="15336317" indent="0">
              <a:buNone/>
              <a:defRPr sz="4193"/>
            </a:lvl9pPr>
          </a:lstStyle>
          <a:p>
            <a:pPr lvl="0"/>
            <a:r>
              <a:rPr lang="en-US"/>
              <a:t>Click to edit Master text styles</a:t>
            </a:r>
          </a:p>
        </p:txBody>
      </p:sp>
      <p:sp>
        <p:nvSpPr>
          <p:cNvPr id="5" name="Date Placeholder 4"/>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19149007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1207" y="2088092"/>
            <a:ext cx="16487747" cy="7308321"/>
          </a:xfrm>
        </p:spPr>
        <p:txBody>
          <a:bodyPr anchor="b"/>
          <a:lstStyle>
            <a:lvl1pPr>
              <a:defRPr sz="13418"/>
            </a:lvl1pPr>
          </a:lstStyle>
          <a:p>
            <a:r>
              <a:rPr lang="en-US"/>
              <a:t>Click to edit Master title style</a:t>
            </a:r>
            <a:endParaRPr lang="en-US" dirty="0"/>
          </a:p>
        </p:txBody>
      </p:sp>
      <p:sp>
        <p:nvSpPr>
          <p:cNvPr id="3" name="Picture Placeholder 2"/>
          <p:cNvSpPr>
            <a:spLocks noGrp="1" noChangeAspect="1"/>
          </p:cNvSpPr>
          <p:nvPr>
            <p:ph type="pic" idx="1"/>
          </p:nvPr>
        </p:nvSpPr>
        <p:spPr>
          <a:xfrm>
            <a:off x="21732945" y="4509700"/>
            <a:ext cx="25879842" cy="22258477"/>
          </a:xfrm>
        </p:spPr>
        <p:txBody>
          <a:bodyPr anchor="t"/>
          <a:lstStyle>
            <a:lvl1pPr marL="0" indent="0">
              <a:buNone/>
              <a:defRPr sz="13418"/>
            </a:lvl1pPr>
            <a:lvl2pPr marL="1917040" indent="0">
              <a:buNone/>
              <a:defRPr sz="11740"/>
            </a:lvl2pPr>
            <a:lvl3pPr marL="3834079" indent="0">
              <a:buNone/>
              <a:defRPr sz="10063"/>
            </a:lvl3pPr>
            <a:lvl4pPr marL="5751119" indent="0">
              <a:buNone/>
              <a:defRPr sz="8386"/>
            </a:lvl4pPr>
            <a:lvl5pPr marL="7668158" indent="0">
              <a:buNone/>
              <a:defRPr sz="8386"/>
            </a:lvl5pPr>
            <a:lvl6pPr marL="9585198" indent="0">
              <a:buNone/>
              <a:defRPr sz="8386"/>
            </a:lvl6pPr>
            <a:lvl7pPr marL="11502238" indent="0">
              <a:buNone/>
              <a:defRPr sz="8386"/>
            </a:lvl7pPr>
            <a:lvl8pPr marL="13419277" indent="0">
              <a:buNone/>
              <a:defRPr sz="8386"/>
            </a:lvl8pPr>
            <a:lvl9pPr marL="15336317" indent="0">
              <a:buNone/>
              <a:defRPr sz="8386"/>
            </a:lvl9pPr>
          </a:lstStyle>
          <a:p>
            <a:r>
              <a:rPr lang="en-US" dirty="0"/>
              <a:t>Click icon to add picture</a:t>
            </a:r>
          </a:p>
        </p:txBody>
      </p:sp>
      <p:sp>
        <p:nvSpPr>
          <p:cNvPr id="4" name="Text Placeholder 3"/>
          <p:cNvSpPr>
            <a:spLocks noGrp="1"/>
          </p:cNvSpPr>
          <p:nvPr>
            <p:ph type="body" sz="half" idx="2"/>
          </p:nvPr>
        </p:nvSpPr>
        <p:spPr>
          <a:xfrm>
            <a:off x="3521207" y="9396413"/>
            <a:ext cx="16487747" cy="17408016"/>
          </a:xfrm>
        </p:spPr>
        <p:txBody>
          <a:bodyPr/>
          <a:lstStyle>
            <a:lvl1pPr marL="0" indent="0">
              <a:buNone/>
              <a:defRPr sz="6709"/>
            </a:lvl1pPr>
            <a:lvl2pPr marL="1917040" indent="0">
              <a:buNone/>
              <a:defRPr sz="5870"/>
            </a:lvl2pPr>
            <a:lvl3pPr marL="3834079" indent="0">
              <a:buNone/>
              <a:defRPr sz="5032"/>
            </a:lvl3pPr>
            <a:lvl4pPr marL="5751119" indent="0">
              <a:buNone/>
              <a:defRPr sz="4193"/>
            </a:lvl4pPr>
            <a:lvl5pPr marL="7668158" indent="0">
              <a:buNone/>
              <a:defRPr sz="4193"/>
            </a:lvl5pPr>
            <a:lvl6pPr marL="9585198" indent="0">
              <a:buNone/>
              <a:defRPr sz="4193"/>
            </a:lvl6pPr>
            <a:lvl7pPr marL="11502238" indent="0">
              <a:buNone/>
              <a:defRPr sz="4193"/>
            </a:lvl7pPr>
            <a:lvl8pPr marL="13419277" indent="0">
              <a:buNone/>
              <a:defRPr sz="4193"/>
            </a:lvl8pPr>
            <a:lvl9pPr marL="15336317" indent="0">
              <a:buNone/>
              <a:defRPr sz="4193"/>
            </a:lvl9pPr>
          </a:lstStyle>
          <a:p>
            <a:pPr lvl="0"/>
            <a:r>
              <a:rPr lang="en-US"/>
              <a:t>Click to edit Master text styles</a:t>
            </a:r>
          </a:p>
        </p:txBody>
      </p:sp>
      <p:sp>
        <p:nvSpPr>
          <p:cNvPr id="5" name="Date Placeholder 4"/>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75537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30974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6583233" y="1667573"/>
            <a:ext cx="11022896" cy="2654341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514547" y="1667573"/>
            <a:ext cx="32429678" cy="2654341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8157164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14547" y="1667576"/>
            <a:ext cx="44091582" cy="605401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514547" y="8337866"/>
            <a:ext cx="44091582" cy="19873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514546" y="29030277"/>
            <a:ext cx="11502152" cy="1667573"/>
          </a:xfrm>
          <a:prstGeom prst="rect">
            <a:avLst/>
          </a:prstGeom>
        </p:spPr>
        <p:txBody>
          <a:bodyPr vert="horz" lIns="91440" tIns="45720" rIns="91440" bIns="45720" rtlCol="0" anchor="ctr"/>
          <a:lstStyle>
            <a:lvl1pPr algn="l">
              <a:defRPr sz="5032">
                <a:solidFill>
                  <a:schemeClr val="tx1">
                    <a:tint val="75000"/>
                  </a:schemeClr>
                </a:solidFill>
              </a:defRPr>
            </a:lvl1pPr>
          </a:lstStyle>
          <a:p>
            <a:fld id="{EDF32165-6009-0A44-BE1F-48670E89FB19}" type="datetimeFigureOut">
              <a:rPr lang="en-US" smtClean="0"/>
              <a:t>9/18/2026</a:t>
            </a:fld>
            <a:endParaRPr lang="en-US" dirty="0"/>
          </a:p>
        </p:txBody>
      </p:sp>
      <p:sp>
        <p:nvSpPr>
          <p:cNvPr id="5" name="Footer Placeholder 4"/>
          <p:cNvSpPr>
            <a:spLocks noGrp="1"/>
          </p:cNvSpPr>
          <p:nvPr>
            <p:ph type="ftr" sz="quarter" idx="3"/>
          </p:nvPr>
        </p:nvSpPr>
        <p:spPr>
          <a:xfrm>
            <a:off x="16933724" y="29030277"/>
            <a:ext cx="17253228" cy="1667573"/>
          </a:xfrm>
          <a:prstGeom prst="rect">
            <a:avLst/>
          </a:prstGeom>
        </p:spPr>
        <p:txBody>
          <a:bodyPr vert="horz" lIns="91440" tIns="45720" rIns="91440" bIns="45720" rtlCol="0" anchor="ctr"/>
          <a:lstStyle>
            <a:lvl1pPr algn="ctr">
              <a:defRPr sz="5032">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36103977" y="29030277"/>
            <a:ext cx="11502152" cy="1667573"/>
          </a:xfrm>
          <a:prstGeom prst="rect">
            <a:avLst/>
          </a:prstGeom>
        </p:spPr>
        <p:txBody>
          <a:bodyPr vert="horz" lIns="91440" tIns="45720" rIns="91440" bIns="45720" rtlCol="0" anchor="ctr"/>
          <a:lstStyle>
            <a:lvl1pPr algn="r">
              <a:defRPr sz="5032">
                <a:solidFill>
                  <a:schemeClr val="tx1">
                    <a:tint val="75000"/>
                  </a:schemeClr>
                </a:solidFill>
              </a:defRPr>
            </a:lvl1pPr>
          </a:lstStyle>
          <a:p>
            <a:fld id="{81B12367-391A-064F-889E-BBBCC6E43CD2}" type="slidenum">
              <a:rPr lang="en-US" smtClean="0"/>
              <a:t>‹#›</a:t>
            </a:fld>
            <a:endParaRPr lang="en-US" dirty="0"/>
          </a:p>
        </p:txBody>
      </p:sp>
    </p:spTree>
    <p:extLst>
      <p:ext uri="{BB962C8B-B14F-4D97-AF65-F5344CB8AC3E}">
        <p14:creationId xmlns:p14="http://schemas.microsoft.com/office/powerpoint/2010/main" val="1575384049"/>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3834079" rtl="0" eaLnBrk="1" latinLnBrk="0" hangingPunct="1">
        <a:lnSpc>
          <a:spcPct val="90000"/>
        </a:lnSpc>
        <a:spcBef>
          <a:spcPct val="0"/>
        </a:spcBef>
        <a:buNone/>
        <a:defRPr sz="18449" kern="1200">
          <a:solidFill>
            <a:schemeClr val="tx1"/>
          </a:solidFill>
          <a:latin typeface="+mj-lt"/>
          <a:ea typeface="+mj-ea"/>
          <a:cs typeface="+mj-cs"/>
        </a:defRPr>
      </a:lvl1pPr>
    </p:titleStyle>
    <p:bodyStyle>
      <a:lvl1pPr marL="958520" indent="-958520" algn="l" defTabSz="3834079" rtl="0" eaLnBrk="1" latinLnBrk="0" hangingPunct="1">
        <a:lnSpc>
          <a:spcPct val="90000"/>
        </a:lnSpc>
        <a:spcBef>
          <a:spcPts val="4193"/>
        </a:spcBef>
        <a:buFont typeface="Arial" panose="020B0604020202020204" pitchFamily="34" charset="0"/>
        <a:buChar char="•"/>
        <a:defRPr sz="11740" kern="1200">
          <a:solidFill>
            <a:schemeClr val="tx1"/>
          </a:solidFill>
          <a:latin typeface="+mn-lt"/>
          <a:ea typeface="+mn-ea"/>
          <a:cs typeface="+mn-cs"/>
        </a:defRPr>
      </a:lvl1pPr>
      <a:lvl2pPr marL="2875559" indent="-958520" algn="l" defTabSz="3834079" rtl="0" eaLnBrk="1" latinLnBrk="0" hangingPunct="1">
        <a:lnSpc>
          <a:spcPct val="90000"/>
        </a:lnSpc>
        <a:spcBef>
          <a:spcPts val="2097"/>
        </a:spcBef>
        <a:buFont typeface="Arial" panose="020B0604020202020204" pitchFamily="34" charset="0"/>
        <a:buChar char="•"/>
        <a:defRPr sz="10063" kern="1200">
          <a:solidFill>
            <a:schemeClr val="tx1"/>
          </a:solidFill>
          <a:latin typeface="+mn-lt"/>
          <a:ea typeface="+mn-ea"/>
          <a:cs typeface="+mn-cs"/>
        </a:defRPr>
      </a:lvl2pPr>
      <a:lvl3pPr marL="4792599" indent="-958520" algn="l" defTabSz="3834079" rtl="0" eaLnBrk="1" latinLnBrk="0" hangingPunct="1">
        <a:lnSpc>
          <a:spcPct val="90000"/>
        </a:lnSpc>
        <a:spcBef>
          <a:spcPts val="2097"/>
        </a:spcBef>
        <a:buFont typeface="Arial" panose="020B0604020202020204" pitchFamily="34" charset="0"/>
        <a:buChar char="•"/>
        <a:defRPr sz="8386" kern="1200">
          <a:solidFill>
            <a:schemeClr val="tx1"/>
          </a:solidFill>
          <a:latin typeface="+mn-lt"/>
          <a:ea typeface="+mn-ea"/>
          <a:cs typeface="+mn-cs"/>
        </a:defRPr>
      </a:lvl3pPr>
      <a:lvl4pPr marL="6709639"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4pPr>
      <a:lvl5pPr marL="8626678"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5pPr>
      <a:lvl6pPr marL="10543718"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6pPr>
      <a:lvl7pPr marL="1246075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7pPr>
      <a:lvl8pPr marL="1437779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8pPr>
      <a:lvl9pPr marL="1629483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9pPr>
    </p:bodyStyle>
    <p:otherStyle>
      <a:defPPr>
        <a:defRPr lang="en-US"/>
      </a:defPPr>
      <a:lvl1pPr marL="0" algn="l" defTabSz="3834079" rtl="0" eaLnBrk="1" latinLnBrk="0" hangingPunct="1">
        <a:defRPr sz="7547" kern="1200">
          <a:solidFill>
            <a:schemeClr val="tx1"/>
          </a:solidFill>
          <a:latin typeface="+mn-lt"/>
          <a:ea typeface="+mn-ea"/>
          <a:cs typeface="+mn-cs"/>
        </a:defRPr>
      </a:lvl1pPr>
      <a:lvl2pPr marL="1917040" algn="l" defTabSz="3834079" rtl="0" eaLnBrk="1" latinLnBrk="0" hangingPunct="1">
        <a:defRPr sz="7547" kern="1200">
          <a:solidFill>
            <a:schemeClr val="tx1"/>
          </a:solidFill>
          <a:latin typeface="+mn-lt"/>
          <a:ea typeface="+mn-ea"/>
          <a:cs typeface="+mn-cs"/>
        </a:defRPr>
      </a:lvl2pPr>
      <a:lvl3pPr marL="3834079" algn="l" defTabSz="3834079" rtl="0" eaLnBrk="1" latinLnBrk="0" hangingPunct="1">
        <a:defRPr sz="7547" kern="1200">
          <a:solidFill>
            <a:schemeClr val="tx1"/>
          </a:solidFill>
          <a:latin typeface="+mn-lt"/>
          <a:ea typeface="+mn-ea"/>
          <a:cs typeface="+mn-cs"/>
        </a:defRPr>
      </a:lvl3pPr>
      <a:lvl4pPr marL="5751119" algn="l" defTabSz="3834079" rtl="0" eaLnBrk="1" latinLnBrk="0" hangingPunct="1">
        <a:defRPr sz="7547" kern="1200">
          <a:solidFill>
            <a:schemeClr val="tx1"/>
          </a:solidFill>
          <a:latin typeface="+mn-lt"/>
          <a:ea typeface="+mn-ea"/>
          <a:cs typeface="+mn-cs"/>
        </a:defRPr>
      </a:lvl4pPr>
      <a:lvl5pPr marL="7668158" algn="l" defTabSz="3834079" rtl="0" eaLnBrk="1" latinLnBrk="0" hangingPunct="1">
        <a:defRPr sz="7547" kern="1200">
          <a:solidFill>
            <a:schemeClr val="tx1"/>
          </a:solidFill>
          <a:latin typeface="+mn-lt"/>
          <a:ea typeface="+mn-ea"/>
          <a:cs typeface="+mn-cs"/>
        </a:defRPr>
      </a:lvl5pPr>
      <a:lvl6pPr marL="9585198" algn="l" defTabSz="3834079" rtl="0" eaLnBrk="1" latinLnBrk="0" hangingPunct="1">
        <a:defRPr sz="7547" kern="1200">
          <a:solidFill>
            <a:schemeClr val="tx1"/>
          </a:solidFill>
          <a:latin typeface="+mn-lt"/>
          <a:ea typeface="+mn-ea"/>
          <a:cs typeface="+mn-cs"/>
        </a:defRPr>
      </a:lvl6pPr>
      <a:lvl7pPr marL="11502238" algn="l" defTabSz="3834079" rtl="0" eaLnBrk="1" latinLnBrk="0" hangingPunct="1">
        <a:defRPr sz="7547" kern="1200">
          <a:solidFill>
            <a:schemeClr val="tx1"/>
          </a:solidFill>
          <a:latin typeface="+mn-lt"/>
          <a:ea typeface="+mn-ea"/>
          <a:cs typeface="+mn-cs"/>
        </a:defRPr>
      </a:lvl7pPr>
      <a:lvl8pPr marL="13419277" algn="l" defTabSz="3834079" rtl="0" eaLnBrk="1" latinLnBrk="0" hangingPunct="1">
        <a:defRPr sz="7547" kern="1200">
          <a:solidFill>
            <a:schemeClr val="tx1"/>
          </a:solidFill>
          <a:latin typeface="+mn-lt"/>
          <a:ea typeface="+mn-ea"/>
          <a:cs typeface="+mn-cs"/>
        </a:defRPr>
      </a:lvl8pPr>
      <a:lvl9pPr marL="15336317" algn="l" defTabSz="3834079" rtl="0" eaLnBrk="1" latinLnBrk="0" hangingPunct="1">
        <a:defRPr sz="754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box"/>
          <p:cNvSpPr/>
          <p:nvPr/>
        </p:nvSpPr>
        <p:spPr>
          <a:xfrm>
            <a:off x="320040" y="283464"/>
            <a:ext cx="50557176" cy="3858768"/>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algn="ctr"/>
            <a:r>
              <a:rPr lang="en-US" sz="6000" b="1" dirty="0">
                <a:latin typeface="Arial" panose="020B0604020202020204" pitchFamily="34" charset="0"/>
                <a:cs typeface="Arial" panose="020B0604020202020204" pitchFamily="34" charset="0"/>
              </a:rPr>
              <a:t>Biomarker signals in MSS/pMMR metastatic colorectal cancer (mCRC) are predominantly prognostic, not predictive</a:t>
            </a:r>
          </a:p>
          <a:p>
            <a:pPr algn="ctr">
              <a:spcAft>
                <a:spcPts val="600"/>
              </a:spcAft>
            </a:pPr>
            <a:r>
              <a:rPr lang="en-US" sz="6000" b="1" dirty="0">
                <a:latin typeface="Arial" panose="020B0604020202020204" pitchFamily="34" charset="0"/>
                <a:cs typeface="Arial" panose="020B0604020202020204" pitchFamily="34" charset="0"/>
              </a:rPr>
              <a:t>– lessons from the randomized phase-2 METIMMOX trial</a:t>
            </a:r>
          </a:p>
          <a:p>
            <a:pPr algn="ctr">
              <a:spcAft>
                <a:spcPts val="400"/>
              </a:spcAft>
            </a:pPr>
            <a:r>
              <a:rPr lang="en-US" sz="4400" dirty="0">
                <a:latin typeface="Arial" panose="020B0604020202020204" pitchFamily="34" charset="0"/>
                <a:cs typeface="Arial" panose="020B0604020202020204" pitchFamily="34" charset="0"/>
              </a:rPr>
              <a:t>Benjamin P. Geisler</a:t>
            </a:r>
            <a:r>
              <a:rPr lang="en-US" sz="4400" baseline="30000" dirty="0">
                <a:latin typeface="Arial" panose="020B0604020202020204" pitchFamily="34" charset="0"/>
                <a:cs typeface="Arial" panose="020B0604020202020204" pitchFamily="34" charset="0"/>
              </a:rPr>
              <a:t>1,2@</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Megan Othus</a:t>
            </a:r>
            <a:r>
              <a:rPr lang="en-US" sz="4400" baseline="30000" dirty="0">
                <a:latin typeface="Arial" panose="020B0604020202020204" pitchFamily="34" charset="0"/>
                <a:cs typeface="Arial" panose="020B0604020202020204" pitchFamily="34" charset="0"/>
              </a:rPr>
              <a:t>3</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Sebastian Meltzer</a:t>
            </a:r>
            <a:r>
              <a:rPr lang="en-US" sz="4400" baseline="30000" dirty="0">
                <a:latin typeface="Arial" panose="020B0604020202020204" pitchFamily="34" charset="0"/>
                <a:cs typeface="Arial" panose="020B0604020202020204" pitchFamily="34" charset="0"/>
              </a:rPr>
              <a:t>2</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Paula A. Bousquet</a:t>
            </a:r>
            <a:r>
              <a:rPr lang="en-US" sz="4400" baseline="30000" dirty="0">
                <a:latin typeface="Arial" panose="020B0604020202020204" pitchFamily="34" charset="0"/>
                <a:cs typeface="Arial" panose="020B0604020202020204" pitchFamily="34" charset="0"/>
              </a:rPr>
              <a:t>2</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Emily A. Burger</a:t>
            </a:r>
            <a:r>
              <a:rPr lang="en-US" sz="4400" baseline="30000" dirty="0">
                <a:latin typeface="Arial" panose="020B0604020202020204" pitchFamily="34" charset="0"/>
                <a:cs typeface="Arial" panose="020B0604020202020204" pitchFamily="34" charset="0"/>
              </a:rPr>
              <a:t>1,4</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Eline Aas</a:t>
            </a:r>
            <a:r>
              <a:rPr lang="en-US" sz="4400" baseline="30000" dirty="0">
                <a:latin typeface="Arial" panose="020B0604020202020204" pitchFamily="34" charset="0"/>
                <a:cs typeface="Arial" panose="020B0604020202020204" pitchFamily="34" charset="0"/>
              </a:rPr>
              <a:t>1,5</a:t>
            </a:r>
            <a:r>
              <a:rPr lang="en-US" sz="4400" dirty="0">
                <a:latin typeface="Arial" panose="020B0604020202020204" pitchFamily="34" charset="0"/>
                <a:cs typeface="Arial" panose="020B0604020202020204" pitchFamily="34" charset="0"/>
              </a:rPr>
              <a:t xml:space="preserve">, </a:t>
            </a:r>
            <a:r>
              <a:rPr lang="en-US" sz="4400" dirty="0">
                <a:latin typeface="Arial" panose="020B0604020202020204" pitchFamily="34" charset="0"/>
                <a:cs typeface="Arial" panose="020B0604020202020204" pitchFamily="34" charset="0"/>
              </a:rPr>
              <a:t>Anne H. Ree</a:t>
            </a:r>
            <a:r>
              <a:rPr lang="en-US" sz="4400" baseline="30000" dirty="0">
                <a:latin typeface="Arial" panose="020B0604020202020204" pitchFamily="34" charset="0"/>
                <a:cs typeface="Arial" panose="020B0604020202020204" pitchFamily="34" charset="0"/>
              </a:rPr>
              <a:t>2,6</a:t>
            </a:r>
          </a:p>
          <a:p>
            <a:pPr marL="2743200" marR="2743200" algn="ctr"/>
            <a:r>
              <a:rPr lang="en-US" sz="3200" baseline="30000" dirty="0">
                <a:latin typeface="Arial" panose="020B0604020202020204" pitchFamily="34" charset="0"/>
                <a:cs typeface="Arial" panose="020B0604020202020204" pitchFamily="34" charset="0"/>
              </a:rPr>
              <a:t>1</a:t>
            </a:r>
            <a:r>
              <a:rPr lang="en-US" sz="3200" dirty="0">
                <a:latin typeface="Arial" panose="020B0604020202020204" pitchFamily="34" charset="0"/>
                <a:cs typeface="Arial" panose="020B0604020202020204" pitchFamily="34" charset="0"/>
              </a:rPr>
              <a:t xml:space="preserve">Department of Health Management and Health Economics, University of Oslo, Oslo, Norway; </a:t>
            </a:r>
            <a:r>
              <a:rPr lang="en-US" sz="3200" baseline="30000" dirty="0">
                <a:latin typeface="Arial" panose="020B0604020202020204" pitchFamily="34" charset="0"/>
                <a:cs typeface="Arial" panose="020B0604020202020204" pitchFamily="34" charset="0"/>
              </a:rPr>
              <a:t>2</a:t>
            </a:r>
            <a:r>
              <a:rPr lang="en-US" sz="3200" dirty="0">
                <a:latin typeface="Arial" panose="020B0604020202020204" pitchFamily="34" charset="0"/>
                <a:cs typeface="Arial" panose="020B0604020202020204" pitchFamily="34" charset="0"/>
              </a:rPr>
              <a:t xml:space="preserve">Department of Oncology, Akershus University Hospital, Lørenskog, Norway; </a:t>
            </a:r>
            <a:r>
              <a:rPr lang="en-US" sz="3200" baseline="30000" dirty="0">
                <a:latin typeface="Arial" panose="020B0604020202020204" pitchFamily="34" charset="0"/>
                <a:cs typeface="Arial" panose="020B0604020202020204" pitchFamily="34" charset="0"/>
              </a:rPr>
              <a:t>3</a:t>
            </a:r>
            <a:r>
              <a:rPr lang="en-US" sz="3200" dirty="0">
                <a:latin typeface="Arial" panose="020B0604020202020204" pitchFamily="34" charset="0"/>
                <a:cs typeface="Arial" panose="020B0604020202020204" pitchFamily="34" charset="0"/>
              </a:rPr>
              <a:t xml:space="preserve">Fred Hutchinson Cancer Center, Seattle WA, United States; </a:t>
            </a:r>
            <a:r>
              <a:rPr lang="en-US" sz="3200" baseline="30000" dirty="0">
                <a:latin typeface="Arial" panose="020B0604020202020204" pitchFamily="34" charset="0"/>
                <a:cs typeface="Arial" panose="020B0604020202020204" pitchFamily="34" charset="0"/>
              </a:rPr>
              <a:t>4</a:t>
            </a:r>
            <a:r>
              <a:rPr lang="en-US" sz="3200" dirty="0">
                <a:latin typeface="Arial" panose="020B0604020202020204" pitchFamily="34" charset="0"/>
                <a:cs typeface="Arial" panose="020B0604020202020204" pitchFamily="34" charset="0"/>
              </a:rPr>
              <a:t xml:space="preserve">Center for Health Decision Science, Harvard T. H. Chan School of Public Health, Boston MA, United States; </a:t>
            </a:r>
            <a:r>
              <a:rPr lang="en-US" sz="3200" baseline="30000" dirty="0">
                <a:latin typeface="Arial" panose="020B0604020202020204" pitchFamily="34" charset="0"/>
                <a:cs typeface="Arial" panose="020B0604020202020204" pitchFamily="34" charset="0"/>
              </a:rPr>
              <a:t>5</a:t>
            </a:r>
            <a:r>
              <a:rPr lang="en-US" sz="3200" dirty="0">
                <a:latin typeface="Arial" panose="020B0604020202020204" pitchFamily="34" charset="0"/>
                <a:cs typeface="Arial" panose="020B0604020202020204" pitchFamily="34" charset="0"/>
              </a:rPr>
              <a:t xml:space="preserve">Division for Health Services, Norwegian Institute of Public Health, Oslo, Norway; </a:t>
            </a:r>
            <a:r>
              <a:rPr lang="en-US" sz="3200" baseline="30000" dirty="0">
                <a:latin typeface="Arial" panose="020B0604020202020204" pitchFamily="34" charset="0"/>
                <a:cs typeface="Arial" panose="020B0604020202020204" pitchFamily="34" charset="0"/>
              </a:rPr>
              <a:t>6</a:t>
            </a:r>
            <a:r>
              <a:rPr lang="en-US" sz="3200" dirty="0">
                <a:latin typeface="Arial" panose="020B0604020202020204" pitchFamily="34" charset="0"/>
                <a:cs typeface="Arial" panose="020B0604020202020204" pitchFamily="34" charset="0"/>
              </a:rPr>
              <a:t>Institute of Clinical Medicine, University of Oslo, Oslo, Norway.</a:t>
            </a:r>
          </a:p>
        </p:txBody>
      </p:sp>
      <p:sp>
        <p:nvSpPr>
          <p:cNvPr id="102" name="Poster number"/>
          <p:cNvSpPr txBox="1"/>
          <p:nvPr/>
        </p:nvSpPr>
        <p:spPr>
          <a:xfrm>
            <a:off x="786384" y="2944368"/>
            <a:ext cx="2651760" cy="1197864"/>
          </a:xfrm>
          <a:prstGeom prst="rect">
            <a:avLst/>
          </a:prstGeom>
          <a:noFill/>
        </p:spPr>
        <p:txBody>
          <a:bodyPr wrap="square" rtlCol="0" anchor="t">
            <a:spAutoFit/>
          </a:bodyPr>
          <a:lstStyle/>
          <a:p>
            <a:r>
              <a:rPr lang="en-US" sz="7200" b="1" dirty="0">
                <a:solidFill>
                  <a:srgbClr val="B41672"/>
                </a:solidFill>
              </a:rPr>
              <a:t>4355P</a:t>
            </a:r>
          </a:p>
        </p:txBody>
      </p:sp>
      <p:sp>
        <p:nvSpPr>
          <p:cNvPr id="103" name="Background header"/>
          <p:cNvSpPr/>
          <p:nvPr/>
        </p:nvSpPr>
        <p:spPr>
          <a:xfrm>
            <a:off x="283464" y="4471416"/>
            <a:ext cx="13990320" cy="987552"/>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Background</a:t>
            </a:r>
          </a:p>
        </p:txBody>
      </p:sp>
      <p:sp>
        <p:nvSpPr>
          <p:cNvPr id="104" name="Results header"/>
          <p:cNvSpPr/>
          <p:nvPr/>
        </p:nvSpPr>
        <p:spPr>
          <a:xfrm>
            <a:off x="14730984" y="4462272"/>
            <a:ext cx="36100512" cy="1005840"/>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Results</a:t>
            </a:r>
          </a:p>
        </p:txBody>
      </p:sp>
      <p:sp>
        <p:nvSpPr>
          <p:cNvPr id="105" name="Background box"/>
          <p:cNvSpPr/>
          <p:nvPr/>
        </p:nvSpPr>
        <p:spPr>
          <a:xfrm>
            <a:off x="365760" y="5751576"/>
            <a:ext cx="13908024" cy="502920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marL="571500" indent="-571500">
              <a:spcAft>
                <a:spcPts val="1200"/>
              </a:spcAft>
              <a:buFont typeface="Courier New" panose="02070309020205020404" pitchFamily="49" charset="0"/>
              <a:buChar char="o"/>
            </a:pPr>
            <a:r>
              <a:rPr lang="en-US" sz="3200" dirty="0"/>
              <a:t>Immune checkpoint blockade is ineffective in unselected MSS/pMMR mCRC.</a:t>
            </a:r>
            <a:endParaRPr lang="en-US" sz="3200" dirty="0"/>
          </a:p>
          <a:p>
            <a:pPr marL="571500" indent="-571500">
              <a:spcAft>
                <a:spcPts val="1200"/>
              </a:spcAft>
              <a:buFont typeface="Courier New" panose="02070309020205020404" pitchFamily="49" charset="0"/>
              <a:buChar char="o"/>
            </a:pPr>
            <a:r>
              <a:rPr lang="en-US" sz="3200" dirty="0"/>
              <a:t>The randomized phase-2 METIMMOX trial (NCT03388190; EudraCT 2017-001845-29) compared alternating oxaliplatin-based chemotherapy (FLOX) and nivolumab with FLOX alone; progression-free survival (PFS) was identical.</a:t>
            </a:r>
            <a:endParaRPr lang="en-US" sz="3200" dirty="0"/>
          </a:p>
          <a:p>
            <a:pPr marL="571500" indent="-571500">
              <a:spcAft>
                <a:spcPts val="1200"/>
              </a:spcAft>
              <a:buFont typeface="Courier New" panose="02070309020205020404" pitchFamily="49" charset="0"/>
              <a:buChar char="o"/>
            </a:pPr>
            <a:r>
              <a:rPr lang="en-US" sz="3200" dirty="0"/>
              <a:t>Post hoc analyses suggested benefit in three biomarker subgroups but conflated prognostic and predictive effects.</a:t>
            </a:r>
            <a:endParaRPr lang="en-US" sz="3200" dirty="0"/>
          </a:p>
          <a:p>
            <a:pPr marL="571500" indent="-571500">
              <a:spcAft>
                <a:spcPts val="1200"/>
              </a:spcAft>
              <a:buFont typeface="Courier New" panose="02070309020205020404" pitchFamily="49" charset="0"/>
              <a:buChar char="o"/>
            </a:pPr>
            <a:r>
              <a:rPr lang="en-US" sz="3200" dirty="0"/>
              <a:t>We evaluated treatment-effect heterogeneity in a causally motivated regression framework.</a:t>
            </a:r>
            <a:endParaRPr lang="en-US" sz="3200" dirty="0"/>
          </a:p>
        </p:txBody>
      </p:sp>
      <p:sp>
        <p:nvSpPr>
          <p:cNvPr id="106" name="Methods header"/>
          <p:cNvSpPr/>
          <p:nvPr/>
        </p:nvSpPr>
        <p:spPr>
          <a:xfrm>
            <a:off x="283464" y="11018520"/>
            <a:ext cx="13990320" cy="978408"/>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Methods</a:t>
            </a:r>
          </a:p>
        </p:txBody>
      </p:sp>
      <p:sp>
        <p:nvSpPr>
          <p:cNvPr id="107" name="Methods box"/>
          <p:cNvSpPr/>
          <p:nvPr/>
        </p:nvSpPr>
        <p:spPr>
          <a:xfrm>
            <a:off x="329184" y="12252960"/>
            <a:ext cx="13944600" cy="1412748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tIns="109728" rtlCol="0" anchor="t">
            <a:noAutofit/>
          </a:bodyPr>
          <a:lstStyle/>
          <a:p>
            <a:pPr marL="571500" indent="-571500">
              <a:spcAft>
                <a:spcPts val="1200"/>
              </a:spcAft>
              <a:buFont typeface="Courier New" panose="02070309020205020404" pitchFamily="49" charset="0"/>
              <a:buChar char="o"/>
            </a:pPr>
            <a:r>
              <a:rPr lang="en-US" sz="3200" dirty="0"/>
              <a:t>Complete-case cohort: 68 patients with both biomarkers, covariates and both endpoints (59 deaths; 63 progression-or-death events).</a:t>
            </a:r>
            <a:endParaRPr lang="en-US" sz="3200" dirty="0"/>
          </a:p>
          <a:p>
            <a:pPr marL="571500" indent="-571500">
              <a:spcAft>
                <a:spcPts val="1200"/>
              </a:spcAft>
              <a:buFont typeface="Courier New" panose="02070309020205020404" pitchFamily="49" charset="0"/>
              <a:buChar char="o"/>
            </a:pPr>
            <a:r>
              <a:rPr lang="en-US" sz="3200" dirty="0"/>
              <a:t xml:space="preserve">Pre-immunotherapy biomarkers: TMB ≥9 mut/Mb or </a:t>
            </a:r>
            <a:r>
              <a:rPr lang="en-US" sz="3200" i="1" dirty="0"/>
              <a:t>BRAF</a:t>
            </a:r>
            <a:r>
              <a:rPr lang="en-US" sz="3200" dirty="0"/>
              <a:t xml:space="preserve"> V600E (baseline NGS), and suppressed systemic inflammation (CRP &lt;5 mg/L) after the initial 2 FLOX cycles common to both arms (week 4, before the first nivolumab dose).</a:t>
            </a:r>
            <a:endParaRPr lang="en-US" sz="3200" dirty="0"/>
          </a:p>
          <a:p>
            <a:pPr marL="571500" indent="-571500">
              <a:spcAft>
                <a:spcPts val="1200"/>
              </a:spcAft>
              <a:buFont typeface="Courier New" panose="02070309020205020404" pitchFamily="49" charset="0"/>
              <a:buChar char="o"/>
            </a:pPr>
            <a:r>
              <a:rPr lang="en-US" sz="3200" dirty="0"/>
              <a:t>Tumor lesion reduction (TLR) ≥10% at the first on-treatment CT was adjudicated an intermediate endpoint (T → TLR → PFS) and analyzed separately with a week-9 landmark.</a:t>
            </a:r>
            <a:endParaRPr lang="en-US" sz="3200" dirty="0"/>
          </a:p>
          <a:p>
            <a:pPr marL="571500" indent="-571500">
              <a:spcAft>
                <a:spcPts val="1200"/>
              </a:spcAft>
              <a:buFont typeface="Courier New" panose="02070309020205020404" pitchFamily="49" charset="0"/>
              <a:buChar char="o"/>
            </a:pPr>
            <a:r>
              <a:rPr lang="en-US" sz="3200" dirty="0"/>
              <a:t xml:space="preserve">One unified Firth-corrected Cox model per endpoint (PFS and overall survival [OS]; </a:t>
            </a:r>
            <a:r>
              <a:rPr lang="en-US" sz="3200" b="1" dirty="0"/>
              <a:t>Figure 1</a:t>
            </a:r>
            <a:r>
              <a:rPr lang="en-US" sz="3200" dirty="0"/>
              <a:t>): age, sex, treatment, biomarker main effects and treatment × biomarker interactions; profile-likelihood 95% CIs and penalized likelihood-ratio tests (PLRT).</a:t>
            </a:r>
            <a:endParaRPr lang="en-US" sz="3200" dirty="0"/>
          </a:p>
          <a:p>
            <a:pPr marL="571500" indent="-571500">
              <a:spcAft>
                <a:spcPts val="1200"/>
              </a:spcAft>
              <a:buFont typeface="Courier New" panose="02070309020205020404" pitchFamily="49" charset="0"/>
              <a:buChar char="o"/>
            </a:pPr>
            <a:r>
              <a:rPr lang="en-US" sz="3200" dirty="0"/>
              <a:t>Ridge-penalized Cox regression (cross-validated penalty) as co-primary stability estimator.</a:t>
            </a:r>
            <a:endParaRPr lang="en-US" sz="3200" dirty="0"/>
          </a:p>
        </p:txBody>
      </p:sp>
      <p:pic>
        <p:nvPicPr>
          <p:cNvPr id="108" name="Simplified DAG" descr="Simplified causal diagram: treatment, CRP, TMB/BRAF, age/sex and survival"/>
          <p:cNvPicPr>
            <a:picLocks noChangeAspect="1"/>
          </p:cNvPicPr>
          <p:nvPr/>
        </p:nvPicPr>
        <p:blipFill>
          <a:blip r:embed="rId7"/>
          <a:stretch>
            <a:fillRect/>
          </a:stretch>
        </p:blipFill>
        <p:spPr>
          <a:xfrm>
            <a:off x="4192524" y="21293763"/>
            <a:ext cx="6217920" cy="4263717"/>
          </a:xfrm>
          <a:prstGeom prst="rect">
            <a:avLst/>
          </a:prstGeom>
        </p:spPr>
      </p:pic>
      <p:sp>
        <p:nvSpPr>
          <p:cNvPr id="109" name="DAG caption"/>
          <p:cNvSpPr txBox="1"/>
          <p:nvPr/>
        </p:nvSpPr>
        <p:spPr>
          <a:xfrm>
            <a:off x="1133856" y="25557480"/>
            <a:ext cx="12344400" cy="777240"/>
          </a:xfrm>
          <a:prstGeom prst="rect">
            <a:avLst/>
          </a:prstGeom>
          <a:noFill/>
        </p:spPr>
        <p:txBody>
          <a:bodyPr wrap="square" rtlCol="0" anchor="t">
            <a:noAutofit/>
          </a:bodyPr>
          <a:lstStyle/>
          <a:p>
            <a:pPr algn="ctr"/>
            <a:r>
              <a:rPr lang="en-US" sz="2400" b="1" dirty="0"/>
              <a:t xml:space="preserve">Figure 1. Simplified causal diagram. </a:t>
            </a:r>
            <a:r>
              <a:rPr lang="en-US" sz="2400" dirty="0"/>
              <a:t>Solid arrows: assumed causal effects; dashed arrow: treatment effect hypothesized to be modified by CRP and TMB/</a:t>
            </a:r>
            <a:r>
              <a:rPr lang="en-US" sz="2400" i="1" dirty="0"/>
              <a:t>BRAF</a:t>
            </a:r>
            <a:r>
              <a:rPr lang="en-US" sz="2400" dirty="0"/>
              <a:t xml:space="preserve"> (interaction terms).</a:t>
            </a:r>
          </a:p>
        </p:txBody>
      </p:sp>
      <p:sp>
        <p:nvSpPr>
          <p:cNvPr id="110" name="Results text box"/>
          <p:cNvSpPr/>
          <p:nvPr/>
        </p:nvSpPr>
        <p:spPr>
          <a:xfrm>
            <a:off x="14730984" y="5751576"/>
            <a:ext cx="14868144" cy="12454128"/>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marL="571500" indent="-571500">
              <a:spcAft>
                <a:spcPts val="1200"/>
              </a:spcAft>
              <a:buFont typeface="Courier New" panose="02070309020205020404" pitchFamily="49" charset="0"/>
              <a:buChar char="o"/>
            </a:pPr>
            <a:r>
              <a:rPr lang="en-US" sz="3200" dirty="0"/>
              <a:t>68 patients had complete biomarker and covariate data (mean age 64 years; 47% female; 59 deaths; 63 progression-or-death events).</a:t>
            </a:r>
            <a:endParaRPr lang="en-US" sz="3200" dirty="0"/>
          </a:p>
          <a:p>
            <a:pPr marL="571500" indent="-571500">
              <a:spcAft>
                <a:spcPts val="1200"/>
              </a:spcAft>
              <a:buFont typeface="Courier New" panose="02070309020205020404" pitchFamily="49" charset="0"/>
              <a:buChar char="o"/>
            </a:pPr>
            <a:r>
              <a:rPr lang="en-US" sz="3200" dirty="0"/>
              <a:t>No detectable marginal treatment effect: OS HR 0.96 (95% CI 0.58–1.61); PFS HR 0.80 (0.49–1.33).</a:t>
            </a:r>
            <a:endParaRPr lang="en-US" sz="3200" dirty="0"/>
          </a:p>
          <a:p>
            <a:pPr marL="571500" indent="-571500">
              <a:spcAft>
                <a:spcPts val="1200"/>
              </a:spcAft>
              <a:buFont typeface="Courier New" panose="02070309020205020404" pitchFamily="49" charset="0"/>
              <a:buChar char="o"/>
            </a:pPr>
            <a:r>
              <a:rPr lang="en-US" sz="3200" dirty="0"/>
              <a:t>CRP &lt;5 mg/L and TMB/</a:t>
            </a:r>
            <a:r>
              <a:rPr lang="en-US" sz="3200" i="1" dirty="0"/>
              <a:t>BRAF</a:t>
            </a:r>
            <a:r>
              <a:rPr lang="en-US" sz="3200" dirty="0"/>
              <a:t xml:space="preserve"> positivity were prognostic: both were associated with longer PFS (HR 0.41 and 0.49), and low CRP also with longer OS (HR 0.49) (</a:t>
            </a:r>
            <a:r>
              <a:rPr lang="en-US" sz="3200" b="1" dirty="0"/>
              <a:t>Table 1</a:t>
            </a:r>
            <a:r>
              <a:rPr lang="en-US" sz="3200" dirty="0"/>
              <a:t xml:space="preserve">, </a:t>
            </a:r>
            <a:r>
              <a:rPr lang="en-US" sz="3200" b="1" dirty="0"/>
              <a:t>Figure 2</a:t>
            </a:r>
            <a:r>
              <a:rPr lang="en-US" sz="3200" dirty="0"/>
              <a:t>).</a:t>
            </a:r>
            <a:endParaRPr lang="en-US" sz="3200" dirty="0"/>
          </a:p>
          <a:p>
            <a:pPr marL="571500" indent="-571500">
              <a:spcAft>
                <a:spcPts val="1200"/>
              </a:spcAft>
              <a:buFont typeface="Courier New" panose="02070309020205020404" pitchFamily="49" charset="0"/>
              <a:buChar char="o"/>
            </a:pPr>
            <a:r>
              <a:rPr lang="en-US" sz="3200" dirty="0"/>
              <a:t>No treatment × biomarker interaction reached statistical significance (</a:t>
            </a:r>
            <a:r>
              <a:rPr lang="en-US" sz="3200" b="1" dirty="0"/>
              <a:t>Figure 3</a:t>
            </a:r>
            <a:r>
              <a:rPr lang="en-US" sz="3200" dirty="0"/>
              <a:t>). The CRP × treatment interaction for PFS was the most directionally consistent finding (Firth HR 0.42, 95% CI 0.11–1.68; PLRT p = 0.21; ridge HR 0.33) but was attenuated for OS (Firth HR 0.65; ridge HR 0.40).</a:t>
            </a:r>
            <a:endParaRPr lang="en-US" sz="3200" dirty="0"/>
          </a:p>
          <a:p>
            <a:pPr marL="571500" indent="-571500">
              <a:spcAft>
                <a:spcPts val="1200"/>
              </a:spcAft>
              <a:buFont typeface="Courier New" panose="02070309020205020404" pitchFamily="49" charset="0"/>
              <a:buChar char="o"/>
            </a:pPr>
            <a:r>
              <a:rPr lang="en-US" sz="3200" dirty="0"/>
              <a:t>Week-4 CRP positivity was imbalanced by chance (47% with FLOX/nivolumab vs 19% with FLOX alone; p = 0.02); the CRP × treatment interaction is estimated against this contrast.</a:t>
            </a:r>
            <a:endParaRPr lang="en-US" sz="3200" dirty="0"/>
          </a:p>
          <a:p>
            <a:pPr marL="571500" indent="-571500">
              <a:spcAft>
                <a:spcPts val="1200"/>
              </a:spcAft>
              <a:buFont typeface="Courier New" panose="02070309020205020404" pitchFamily="49" charset="0"/>
              <a:buChar char="o"/>
            </a:pPr>
            <a:r>
              <a:rPr lang="en-US" sz="3200" dirty="0"/>
              <a:t>TLR ≥10% was strongly associated with both endpoints (landmark HR 0.35 for OS and PFS) but was more frequent with FLOX alone (75.9% vs 52.8% with FLOX/nivolumab; p = 0.07), and the TLR × treatment interaction pointed towards less, not more, benefit from nivolumab (HR &gt;1): TLR marks chemotherapy-responsive disease rather than immunotherapy benefit.</a:t>
            </a:r>
            <a:endParaRPr lang="en-US" sz="3200" dirty="0"/>
          </a:p>
          <a:p>
            <a:pPr marL="571500" indent="-571500">
              <a:spcAft>
                <a:spcPts val="1200"/>
              </a:spcAft>
              <a:buFont typeface="Courier New" panose="02070309020205020404" pitchFamily="49" charset="0"/>
              <a:buChar char="o"/>
            </a:pPr>
            <a:r>
              <a:rPr lang="en-US" sz="3200" dirty="0"/>
              <a:t>Proportional hazards held globally (Schoenfeld p = 0.25 for OS, 0.12 for PFS).</a:t>
            </a:r>
            <a:endParaRPr lang="en-US" sz="3200" dirty="0"/>
          </a:p>
        </p:txBody>
      </p:sp>
      <p:pic>
        <p:nvPicPr>
          <p:cNvPr id="111" name="Figure 3 forest plot" descr="Forest plot of treatment by biomarker interaction hazard ratios"/>
          <p:cNvPicPr>
            <a:picLocks noChangeAspect="1"/>
          </p:cNvPicPr>
          <p:nvPr/>
        </p:nvPicPr>
        <p:blipFill>
          <a:blip r:embed="rId6"/>
          <a:stretch>
            <a:fillRect/>
          </a:stretch>
        </p:blipFill>
        <p:spPr>
          <a:xfrm>
            <a:off x="14730984" y="18481738"/>
            <a:ext cx="14868144" cy="7898702"/>
          </a:xfrm>
          <a:prstGeom prst="rect">
            <a:avLst/>
          </a:prstGeom>
        </p:spPr>
      </p:pic>
      <p:sp>
        <p:nvSpPr>
          <p:cNvPr id="112" name="Table 1 caption"/>
          <p:cNvSpPr txBox="1"/>
          <p:nvPr/>
        </p:nvSpPr>
        <p:spPr>
          <a:xfrm>
            <a:off x="30056328" y="5751576"/>
            <a:ext cx="20775168" cy="603504"/>
          </a:xfrm>
          <a:prstGeom prst="rect">
            <a:avLst/>
          </a:prstGeom>
          <a:noFill/>
        </p:spPr>
        <p:txBody>
          <a:bodyPr wrap="square" rtlCol="0" anchor="t">
            <a:noAutofit/>
          </a:bodyPr>
          <a:lstStyle/>
          <a:p>
            <a:r>
              <a:rPr lang="en-US" sz="2800" b="1" dirty="0"/>
              <a:t xml:space="preserve">Table 1. </a:t>
            </a:r>
            <a:r>
              <a:rPr lang="en-US" sz="2800" dirty="0"/>
              <a:t>Hazard ratios (95% profile-likelihood CI) from Firth-corrected Cox regression</a:t>
            </a:r>
          </a:p>
        </p:txBody>
      </p:sp>
      <p:graphicFrame>
        <p:nvGraphicFramePr>
          <p:cNvPr id="113" name="Table 1"/>
          <p:cNvGraphicFramePr>
            <a:graphicFrameLocks noGrp="1"/>
          </p:cNvGraphicFramePr>
          <p:nvPr/>
        </p:nvGraphicFramePr>
        <p:xfrm>
          <a:off x="30056328" y="6409944"/>
          <a:ext cx="20775168" cy="6583680"/>
        </p:xfrm>
        <a:graphic>
          <a:graphicData uri="http://schemas.openxmlformats.org/drawingml/2006/table">
            <a:tbl>
              <a:tblPr firstRow="1" bandRow="1"/>
              <a:tblGrid>
                <a:gridCol w="6784848"/>
                <a:gridCol w="3657600"/>
                <a:gridCol w="1463040"/>
                <a:gridCol w="1828800"/>
                <a:gridCol w="3657600"/>
                <a:gridCol w="1463040"/>
                <a:gridCol w="1920240"/>
              </a:tblGrid>
              <a:tr h="548640">
                <a:tc rowSpan="2">
                  <a:txBody>
                    <a:bodyPr/>
                    <a:lstStyle/>
                    <a:p>
                      <a:pPr algn="l"/>
                      <a:r>
                        <a:rPr lang="en-US" sz="2800" b="1" dirty="0"/>
                        <a:t>Term</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gridSpan="3">
                  <a:txBody>
                    <a:bodyPr/>
                    <a:lstStyle/>
                    <a:p>
                      <a:pPr algn="ctr"/>
                      <a:r>
                        <a:rPr lang="en-US" sz="2800" b="1" dirty="0"/>
                        <a:t>Overall survival</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gridSpan="3">
                  <a:txBody>
                    <a:bodyPr/>
                    <a:lstStyle/>
                    <a:p>
                      <a:pPr algn="ctr"/>
                      <a:r>
                        <a:rPr lang="en-US" sz="2800" b="1" dirty="0"/>
                        <a:t>Progression-free survival</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r>
              <a:tr h="548640">
                <a:tc vMerge="1">
                  <a:txBody>
                    <a:bodyPr/>
                    <a:lstStyle/>
                    <a:p>
                      <a:pPr algn="ct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HR (95% CI)</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p</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Ridge HR</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HR (95% CI)</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p</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Ridge HR</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r>
              <a:tr h="548640">
                <a:tc gridSpan="7">
                  <a:txBody>
                    <a:bodyPr/>
                    <a:lstStyle/>
                    <a:p>
                      <a:pPr algn="l"/>
                      <a:r>
                        <a:rPr lang="en-US" sz="2800" b="1" dirty="0"/>
                        <a:t>Marginal associations (one term per model, n = 68)</a:t>
                      </a:r>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r>
              <a:tr h="548640">
                <a:tc>
                  <a:txBody>
                    <a:bodyPr/>
                    <a:lstStyle/>
                    <a:p>
                      <a:pPr algn="l"/>
                      <a:r>
                        <a:rPr lang="en-US" sz="2800" dirty="0"/>
                        <a:t>Treatment (FLOX/nivolumab vs FLOX)</a:t>
                      </a:r>
                      <a:endParaRPr lang="en-US" sz="2800" dirty="0"/>
                    </a:p>
                  </a:txBody>
                  <a:tcPr marL="60000" marR="60000" marT="18000" marB="18000" anchor="ctr">
                    <a:lnL>
                      <a:noFill/>
                    </a:lnL>
                    <a:lnR>
                      <a:noFill/>
                    </a:lnR>
                    <a:lnT>
                      <a:noFill/>
                    </a:lnT>
                    <a:lnB>
                      <a:noFill/>
                    </a:lnB>
                    <a:noFill/>
                  </a:tcPr>
                </a:tc>
                <a:tc>
                  <a:txBody>
                    <a:bodyPr/>
                    <a:lstStyle/>
                    <a:p>
                      <a:pPr algn="ctr"/>
                      <a:r>
                        <a:rPr lang="en-US" sz="2800" dirty="0"/>
                        <a:t>0.96 (0.58–1.61)</a:t>
                      </a:r>
                      <a:endParaRPr lang="en-US" sz="2800" dirty="0"/>
                    </a:p>
                  </a:txBody>
                  <a:tcPr marL="60000" marR="60000" marT="18000" marB="18000" anchor="ctr">
                    <a:lnL>
                      <a:noFill/>
                    </a:lnL>
                    <a:lnR>
                      <a:noFill/>
                    </a:lnR>
                    <a:lnT>
                      <a:noFill/>
                    </a:lnT>
                    <a:lnB>
                      <a:noFill/>
                    </a:lnB>
                    <a:noFill/>
                  </a:tcPr>
                </a:tc>
                <a:tc>
                  <a:txBody>
                    <a:bodyPr/>
                    <a:lstStyle/>
                    <a:p>
                      <a:pPr algn="ctr"/>
                      <a:r>
                        <a:rPr lang="en-US" sz="2800" dirty="0"/>
                        <a:t>0.87</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c>
                  <a:txBody>
                    <a:bodyPr/>
                    <a:lstStyle/>
                    <a:p>
                      <a:pPr algn="ctr"/>
                      <a:r>
                        <a:rPr lang="en-US" sz="2800" dirty="0"/>
                        <a:t>0.80 (0.49–1.33)</a:t>
                      </a:r>
                      <a:endParaRPr lang="en-US" sz="2800" dirty="0"/>
                    </a:p>
                  </a:txBody>
                  <a:tcPr marL="60000" marR="60000" marT="18000" marB="18000" anchor="ctr">
                    <a:lnL>
                      <a:noFill/>
                    </a:lnL>
                    <a:lnR>
                      <a:noFill/>
                    </a:lnR>
                    <a:lnT>
                      <a:noFill/>
                    </a:lnT>
                    <a:lnB>
                      <a:noFill/>
                    </a:lnB>
                    <a:noFill/>
                  </a:tcPr>
                </a:tc>
                <a:tc>
                  <a:txBody>
                    <a:bodyPr/>
                    <a:lstStyle/>
                    <a:p>
                      <a:pPr algn="ctr"/>
                      <a:r>
                        <a:rPr lang="en-US" sz="2800" dirty="0"/>
                        <a:t>0.39</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r>
              <a:tr h="548640">
                <a:tc>
                  <a:txBody>
                    <a:bodyPr/>
                    <a:lstStyle/>
                    <a:p>
                      <a:pPr algn="l"/>
                      <a:r>
                        <a:rPr lang="en-US" sz="2800" dirty="0"/>
                        <a:t>CRP &lt;5 mg/L at week 4</a:t>
                      </a:r>
                      <a:endParaRPr lang="en-US" sz="2800" dirty="0"/>
                    </a:p>
                  </a:txBody>
                  <a:tcPr marL="60000" marR="60000" marT="18000" marB="18000" anchor="ctr">
                    <a:lnL>
                      <a:noFill/>
                    </a:lnL>
                    <a:lnR>
                      <a:noFill/>
                    </a:lnR>
                    <a:lnT>
                      <a:noFill/>
                    </a:lnT>
                    <a:lnB>
                      <a:noFill/>
                    </a:lnB>
                    <a:noFill/>
                  </a:tcPr>
                </a:tc>
                <a:tc>
                  <a:txBody>
                    <a:bodyPr/>
                    <a:lstStyle/>
                    <a:p>
                      <a:pPr algn="ctr"/>
                      <a:r>
                        <a:rPr lang="en-US" sz="2800" dirty="0"/>
                        <a:t>0.49 (0.27–0.84)</a:t>
                      </a:r>
                      <a:endParaRPr lang="en-US" sz="2800" dirty="0"/>
                    </a:p>
                  </a:txBody>
                  <a:tcPr marL="60000" marR="60000" marT="18000" marB="18000" anchor="ctr">
                    <a:lnL>
                      <a:noFill/>
                    </a:lnL>
                    <a:lnR>
                      <a:noFill/>
                    </a:lnR>
                    <a:lnT>
                      <a:noFill/>
                    </a:lnT>
                    <a:lnB>
                      <a:noFill/>
                    </a:lnB>
                    <a:noFill/>
                  </a:tcPr>
                </a:tc>
                <a:tc>
                  <a:txBody>
                    <a:bodyPr/>
                    <a:lstStyle/>
                    <a:p>
                      <a:pPr algn="ctr"/>
                      <a:r>
                        <a:rPr lang="en-US" sz="2800" dirty="0"/>
                        <a:t>0.009</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c>
                  <a:txBody>
                    <a:bodyPr/>
                    <a:lstStyle/>
                    <a:p>
                      <a:pPr algn="ctr"/>
                      <a:r>
                        <a:rPr lang="en-US" sz="2800" dirty="0"/>
                        <a:t>0.41 (0.23–0.71)</a:t>
                      </a:r>
                      <a:endParaRPr lang="en-US" sz="2800" dirty="0"/>
                    </a:p>
                  </a:txBody>
                  <a:tcPr marL="60000" marR="60000" marT="18000" marB="18000" anchor="ctr">
                    <a:lnL>
                      <a:noFill/>
                    </a:lnL>
                    <a:lnR>
                      <a:noFill/>
                    </a:lnR>
                    <a:lnT>
                      <a:noFill/>
                    </a:lnT>
                    <a:lnB>
                      <a:noFill/>
                    </a:lnB>
                    <a:noFill/>
                  </a:tcPr>
                </a:tc>
                <a:tc>
                  <a:txBody>
                    <a:bodyPr/>
                    <a:lstStyle/>
                    <a:p>
                      <a:pPr algn="ctr"/>
                      <a:r>
                        <a:rPr lang="en-US" sz="2800" dirty="0"/>
                        <a:t>0.001</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r>
              <a:tr h="548640">
                <a:tc>
                  <a:txBody>
                    <a:bodyPr/>
                    <a:lstStyle/>
                    <a:p>
                      <a:pPr algn="l"/>
                      <a:r>
                        <a:rPr lang="en-US" sz="2800" dirty="0"/>
                        <a:t xml:space="preserve">TMB ≥9 mut/Mb or </a:t>
                      </a:r>
                      <a:r>
                        <a:rPr lang="en-US" sz="2800" i="1" dirty="0"/>
                        <a:t>BRAF</a:t>
                      </a:r>
                      <a:r>
                        <a:rPr lang="en-US" sz="2800" dirty="0"/>
                        <a:t xml:space="preserve"> V600E</a:t>
                      </a:r>
                      <a:endParaRPr lang="en-US" sz="2800" dirty="0"/>
                    </a:p>
                  </a:txBody>
                  <a:tcPr marL="60000" marR="60000" marT="18000" marB="18000" anchor="ctr">
                    <a:lnL>
                      <a:noFill/>
                    </a:lnL>
                    <a:lnR>
                      <a:noFill/>
                    </a:lnR>
                    <a:lnT>
                      <a:noFill/>
                    </a:lnT>
                    <a:lnB>
                      <a:noFill/>
                    </a:lnB>
                    <a:noFill/>
                  </a:tcPr>
                </a:tc>
                <a:tc>
                  <a:txBody>
                    <a:bodyPr/>
                    <a:lstStyle/>
                    <a:p>
                      <a:pPr algn="ctr"/>
                      <a:r>
                        <a:rPr lang="en-US" sz="2800" dirty="0"/>
                        <a:t>0.68 (0.40–1.13)</a:t>
                      </a:r>
                      <a:endParaRPr lang="en-US" sz="2800" dirty="0"/>
                    </a:p>
                  </a:txBody>
                  <a:tcPr marL="60000" marR="60000" marT="18000" marB="18000" anchor="ctr">
                    <a:lnL>
                      <a:noFill/>
                    </a:lnL>
                    <a:lnR>
                      <a:noFill/>
                    </a:lnR>
                    <a:lnT>
                      <a:noFill/>
                    </a:lnT>
                    <a:lnB>
                      <a:noFill/>
                    </a:lnB>
                    <a:noFill/>
                  </a:tcPr>
                </a:tc>
                <a:tc>
                  <a:txBody>
                    <a:bodyPr/>
                    <a:lstStyle/>
                    <a:p>
                      <a:pPr algn="ctr"/>
                      <a:r>
                        <a:rPr lang="en-US" sz="2800" dirty="0"/>
                        <a:t>0.14</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c>
                  <a:txBody>
                    <a:bodyPr/>
                    <a:lstStyle/>
                    <a:p>
                      <a:pPr algn="ctr"/>
                      <a:r>
                        <a:rPr lang="en-US" sz="2800" dirty="0"/>
                        <a:t>0.49 (0.28–0.84)</a:t>
                      </a:r>
                      <a:endParaRPr lang="en-US" sz="2800" dirty="0"/>
                    </a:p>
                  </a:txBody>
                  <a:tcPr marL="60000" marR="60000" marT="18000" marB="18000" anchor="ctr">
                    <a:lnL>
                      <a:noFill/>
                    </a:lnL>
                    <a:lnR>
                      <a:noFill/>
                    </a:lnR>
                    <a:lnT>
                      <a:noFill/>
                    </a:lnT>
                    <a:lnB>
                      <a:noFill/>
                    </a:lnB>
                    <a:noFill/>
                  </a:tcPr>
                </a:tc>
                <a:tc>
                  <a:txBody>
                    <a:bodyPr/>
                    <a:lstStyle/>
                    <a:p>
                      <a:pPr algn="ctr"/>
                      <a:r>
                        <a:rPr lang="en-US" sz="2800" dirty="0"/>
                        <a:t>0.009</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r>
              <a:tr h="548640">
                <a:tc>
                  <a:txBody>
                    <a:bodyPr/>
                    <a:lstStyle/>
                    <a:p>
                      <a:pPr algn="l"/>
                      <a:r>
                        <a:rPr lang="en-US" sz="2800" dirty="0"/>
                        <a:t>TLR ≥10% (week-9 landmark)†</a:t>
                      </a:r>
                      <a:endParaRPr lang="en-US" sz="2800" dirty="0"/>
                    </a:p>
                  </a:txBody>
                  <a:tcPr marL="60000" marR="60000" marT="18000" marB="18000" anchor="ctr">
                    <a:lnL>
                      <a:noFill/>
                    </a:lnL>
                    <a:lnR>
                      <a:noFill/>
                    </a:lnR>
                    <a:lnT>
                      <a:noFill/>
                    </a:lnT>
                    <a:lnB>
                      <a:noFill/>
                    </a:lnB>
                    <a:noFill/>
                  </a:tcPr>
                </a:tc>
                <a:tc>
                  <a:txBody>
                    <a:bodyPr/>
                    <a:lstStyle/>
                    <a:p>
                      <a:pPr algn="ctr"/>
                      <a:r>
                        <a:rPr lang="en-US" sz="2800" dirty="0"/>
                        <a:t>0.35 (0.21–0.61)</a:t>
                      </a:r>
                      <a:endParaRPr lang="en-US" sz="2800" dirty="0"/>
                    </a:p>
                  </a:txBody>
                  <a:tcPr marL="60000" marR="60000" marT="18000" marB="18000" anchor="ctr">
                    <a:lnL>
                      <a:noFill/>
                    </a:lnL>
                    <a:lnR>
                      <a:noFill/>
                    </a:lnR>
                    <a:lnT>
                      <a:noFill/>
                    </a:lnT>
                    <a:lnB>
                      <a:noFill/>
                    </a:lnB>
                    <a:noFill/>
                  </a:tcPr>
                </a:tc>
                <a:tc>
                  <a:txBody>
                    <a:bodyPr/>
                    <a:lstStyle/>
                    <a:p>
                      <a:pPr algn="ctr"/>
                      <a:r>
                        <a:rPr lang="en-US" sz="2800" dirty="0"/>
                        <a:t>&lt;0.001</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c>
                  <a:txBody>
                    <a:bodyPr/>
                    <a:lstStyle/>
                    <a:p>
                      <a:pPr algn="ctr"/>
                      <a:r>
                        <a:rPr lang="en-US" sz="2800" dirty="0"/>
                        <a:t>0.35 (0.20–0.63)</a:t>
                      </a:r>
                      <a:endParaRPr lang="en-US" sz="2800" dirty="0"/>
                    </a:p>
                  </a:txBody>
                  <a:tcPr marL="60000" marR="60000" marT="18000" marB="18000" anchor="ctr">
                    <a:lnL>
                      <a:noFill/>
                    </a:lnL>
                    <a:lnR>
                      <a:noFill/>
                    </a:lnR>
                    <a:lnT>
                      <a:noFill/>
                    </a:lnT>
                    <a:lnB>
                      <a:noFill/>
                    </a:lnB>
                    <a:noFill/>
                  </a:tcPr>
                </a:tc>
                <a:tc>
                  <a:txBody>
                    <a:bodyPr/>
                    <a:lstStyle/>
                    <a:p>
                      <a:pPr algn="ctr"/>
                      <a:r>
                        <a:rPr lang="en-US" sz="2800" dirty="0"/>
                        <a:t>&lt;0.001</a:t>
                      </a:r>
                      <a:endParaRPr lang="en-US" sz="2800" dirty="0"/>
                    </a:p>
                  </a:txBody>
                  <a:tcPr marL="60000" marR="60000" marT="18000" marB="18000" anchor="ctr">
                    <a:lnL>
                      <a:noFill/>
                    </a:lnL>
                    <a:lnR>
                      <a:noFill/>
                    </a:lnR>
                    <a:lnT>
                      <a:noFill/>
                    </a:lnT>
                    <a:lnB>
                      <a:noFill/>
                    </a:lnB>
                    <a:noFill/>
                  </a:tcPr>
                </a:tc>
                <a:tc>
                  <a:txBody>
                    <a:bodyPr/>
                    <a:lstStyle/>
                    <a:p>
                      <a:pPr algn="ctr"/>
                      <a:r>
                        <a:rPr lang="en-US" sz="2800" dirty="0"/>
                        <a:t>–</a:t>
                      </a:r>
                      <a:endParaRPr lang="en-US" sz="2800" dirty="0"/>
                    </a:p>
                  </a:txBody>
                  <a:tcPr marL="60000" marR="60000" marT="18000" marB="18000" anchor="ctr">
                    <a:lnL>
                      <a:noFill/>
                    </a:lnL>
                    <a:lnR>
                      <a:noFill/>
                    </a:lnR>
                    <a:lnT>
                      <a:noFill/>
                    </a:lnT>
                    <a:lnB>
                      <a:noFill/>
                    </a:lnB>
                    <a:noFill/>
                  </a:tcPr>
                </a:tc>
              </a:tr>
              <a:tr h="548640">
                <a:tc gridSpan="7">
                  <a:txBody>
                    <a:bodyPr/>
                    <a:lstStyle/>
                    <a:p>
                      <a:pPr algn="l"/>
                      <a:r>
                        <a:rPr lang="en-US" sz="2800" b="1" dirty="0"/>
                        <a:t>Unified model: treatment × biomarker interactions (PLRT p)</a:t>
                      </a:r>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r>
              <a:tr h="548640">
                <a:tc>
                  <a:txBody>
                    <a:bodyPr/>
                    <a:lstStyle/>
                    <a:p>
                      <a:pPr algn="l"/>
                      <a:r>
                        <a:rPr lang="en-US" sz="2800" dirty="0"/>
                        <a:t>CRP × treatment</a:t>
                      </a:r>
                      <a:endParaRPr lang="en-US" sz="2800" dirty="0"/>
                    </a:p>
                  </a:txBody>
                  <a:tcPr marL="60000" marR="60000" marT="18000" marB="18000" anchor="ctr">
                    <a:lnL>
                      <a:noFill/>
                    </a:lnL>
                    <a:lnR>
                      <a:noFill/>
                    </a:lnR>
                    <a:lnT>
                      <a:noFill/>
                    </a:lnT>
                    <a:lnB>
                      <a:noFill/>
                    </a:lnB>
                    <a:noFill/>
                  </a:tcPr>
                </a:tc>
                <a:tc>
                  <a:txBody>
                    <a:bodyPr/>
                    <a:lstStyle/>
                    <a:p>
                      <a:pPr algn="ctr"/>
                      <a:r>
                        <a:rPr lang="en-US" sz="2800" dirty="0"/>
                        <a:t>0.65 (0.19–2.60)</a:t>
                      </a:r>
                      <a:endParaRPr lang="en-US" sz="2800" dirty="0"/>
                    </a:p>
                  </a:txBody>
                  <a:tcPr marL="60000" marR="60000" marT="18000" marB="18000" anchor="ctr">
                    <a:lnL>
                      <a:noFill/>
                    </a:lnL>
                    <a:lnR>
                      <a:noFill/>
                    </a:lnR>
                    <a:lnT>
                      <a:noFill/>
                    </a:lnT>
                    <a:lnB>
                      <a:noFill/>
                    </a:lnB>
                    <a:noFill/>
                  </a:tcPr>
                </a:tc>
                <a:tc>
                  <a:txBody>
                    <a:bodyPr/>
                    <a:lstStyle/>
                    <a:p>
                      <a:pPr algn="ctr"/>
                      <a:r>
                        <a:rPr lang="en-US" sz="2800" dirty="0"/>
                        <a:t>0.52</a:t>
                      </a:r>
                      <a:endParaRPr lang="en-US" sz="2800" dirty="0"/>
                    </a:p>
                  </a:txBody>
                  <a:tcPr marL="60000" marR="60000" marT="18000" marB="18000" anchor="ctr">
                    <a:lnL>
                      <a:noFill/>
                    </a:lnL>
                    <a:lnR>
                      <a:noFill/>
                    </a:lnR>
                    <a:lnT>
                      <a:noFill/>
                    </a:lnT>
                    <a:lnB>
                      <a:noFill/>
                    </a:lnB>
                    <a:noFill/>
                  </a:tcPr>
                </a:tc>
                <a:tc>
                  <a:txBody>
                    <a:bodyPr/>
                    <a:lstStyle/>
                    <a:p>
                      <a:pPr algn="ctr"/>
                      <a:r>
                        <a:rPr lang="en-US" sz="2800" dirty="0"/>
                        <a:t>0.40</a:t>
                      </a:r>
                      <a:endParaRPr lang="en-US" sz="2800" dirty="0"/>
                    </a:p>
                  </a:txBody>
                  <a:tcPr marL="60000" marR="60000" marT="18000" marB="18000" anchor="ctr">
                    <a:lnL>
                      <a:noFill/>
                    </a:lnL>
                    <a:lnR>
                      <a:noFill/>
                    </a:lnR>
                    <a:lnT>
                      <a:noFill/>
                    </a:lnT>
                    <a:lnB>
                      <a:noFill/>
                    </a:lnB>
                    <a:noFill/>
                  </a:tcPr>
                </a:tc>
                <a:tc>
                  <a:txBody>
                    <a:bodyPr/>
                    <a:lstStyle/>
                    <a:p>
                      <a:pPr algn="ctr"/>
                      <a:r>
                        <a:rPr lang="en-US" sz="2800" dirty="0"/>
                        <a:t>0.42 (0.11–1.68)</a:t>
                      </a:r>
                      <a:endParaRPr lang="en-US" sz="2800" dirty="0"/>
                    </a:p>
                  </a:txBody>
                  <a:tcPr marL="60000" marR="60000" marT="18000" marB="18000" anchor="ctr">
                    <a:lnL>
                      <a:noFill/>
                    </a:lnL>
                    <a:lnR>
                      <a:noFill/>
                    </a:lnR>
                    <a:lnT>
                      <a:noFill/>
                    </a:lnT>
                    <a:lnB>
                      <a:noFill/>
                    </a:lnB>
                    <a:noFill/>
                  </a:tcPr>
                </a:tc>
                <a:tc>
                  <a:txBody>
                    <a:bodyPr/>
                    <a:lstStyle/>
                    <a:p>
                      <a:pPr algn="ctr"/>
                      <a:r>
                        <a:rPr lang="en-US" sz="2800" dirty="0"/>
                        <a:t>0.21</a:t>
                      </a:r>
                      <a:endParaRPr lang="en-US" sz="2800" dirty="0"/>
                    </a:p>
                  </a:txBody>
                  <a:tcPr marL="60000" marR="60000" marT="18000" marB="18000" anchor="ctr">
                    <a:lnL>
                      <a:noFill/>
                    </a:lnL>
                    <a:lnR>
                      <a:noFill/>
                    </a:lnR>
                    <a:lnT>
                      <a:noFill/>
                    </a:lnT>
                    <a:lnB>
                      <a:noFill/>
                    </a:lnB>
                    <a:noFill/>
                  </a:tcPr>
                </a:tc>
                <a:tc>
                  <a:txBody>
                    <a:bodyPr/>
                    <a:lstStyle/>
                    <a:p>
                      <a:pPr algn="ctr"/>
                      <a:r>
                        <a:rPr lang="en-US" sz="2800" dirty="0"/>
                        <a:t>0.33</a:t>
                      </a:r>
                      <a:endParaRPr lang="en-US" sz="2800" dirty="0"/>
                    </a:p>
                  </a:txBody>
                  <a:tcPr marL="60000" marR="60000" marT="18000" marB="18000" anchor="ctr">
                    <a:lnL>
                      <a:noFill/>
                    </a:lnL>
                    <a:lnR>
                      <a:noFill/>
                    </a:lnR>
                    <a:lnT>
                      <a:noFill/>
                    </a:lnT>
                    <a:lnB>
                      <a:noFill/>
                    </a:lnB>
                    <a:noFill/>
                  </a:tcPr>
                </a:tc>
              </a:tr>
              <a:tr h="548640">
                <a:tc>
                  <a:txBody>
                    <a:bodyPr/>
                    <a:lstStyle/>
                    <a:p>
                      <a:pPr algn="l"/>
                      <a:r>
                        <a:rPr lang="en-US" sz="2800" dirty="0"/>
                        <a:t>TMB/</a:t>
                      </a:r>
                      <a:r>
                        <a:rPr lang="en-US" sz="2800" i="1" dirty="0"/>
                        <a:t>BRAF</a:t>
                      </a:r>
                      <a:r>
                        <a:rPr lang="en-US" sz="2800" dirty="0"/>
                        <a:t xml:space="preserve"> × treatment</a:t>
                      </a:r>
                      <a:endParaRPr lang="en-US" sz="2800" dirty="0"/>
                    </a:p>
                  </a:txBody>
                  <a:tcPr marL="60000" marR="60000" marT="18000" marB="18000" anchor="ctr">
                    <a:lnL>
                      <a:noFill/>
                    </a:lnL>
                    <a:lnR>
                      <a:noFill/>
                    </a:lnR>
                    <a:lnT>
                      <a:noFill/>
                    </a:lnT>
                    <a:lnB>
                      <a:noFill/>
                    </a:lnB>
                    <a:noFill/>
                  </a:tcPr>
                </a:tc>
                <a:tc>
                  <a:txBody>
                    <a:bodyPr/>
                    <a:lstStyle/>
                    <a:p>
                      <a:pPr algn="ctr"/>
                      <a:r>
                        <a:rPr lang="en-US" sz="2800" dirty="0"/>
                        <a:t>0.95 (0.32–2.82)</a:t>
                      </a:r>
                      <a:endParaRPr lang="en-US" sz="2800" dirty="0"/>
                    </a:p>
                  </a:txBody>
                  <a:tcPr marL="60000" marR="60000" marT="18000" marB="18000" anchor="ctr">
                    <a:lnL>
                      <a:noFill/>
                    </a:lnL>
                    <a:lnR>
                      <a:noFill/>
                    </a:lnR>
                    <a:lnT>
                      <a:noFill/>
                    </a:lnT>
                    <a:lnB>
                      <a:noFill/>
                    </a:lnB>
                    <a:noFill/>
                  </a:tcPr>
                </a:tc>
                <a:tc>
                  <a:txBody>
                    <a:bodyPr/>
                    <a:lstStyle/>
                    <a:p>
                      <a:pPr algn="ctr"/>
                      <a:r>
                        <a:rPr lang="en-US" sz="2800" dirty="0"/>
                        <a:t>0.92</a:t>
                      </a:r>
                      <a:endParaRPr lang="en-US" sz="2800" dirty="0"/>
                    </a:p>
                  </a:txBody>
                  <a:tcPr marL="60000" marR="60000" marT="18000" marB="18000" anchor="ctr">
                    <a:lnL>
                      <a:noFill/>
                    </a:lnL>
                    <a:lnR>
                      <a:noFill/>
                    </a:lnR>
                    <a:lnT>
                      <a:noFill/>
                    </a:lnT>
                    <a:lnB>
                      <a:noFill/>
                    </a:lnB>
                    <a:noFill/>
                  </a:tcPr>
                </a:tc>
                <a:tc>
                  <a:txBody>
                    <a:bodyPr/>
                    <a:lstStyle/>
                    <a:p>
                      <a:pPr algn="ctr"/>
                      <a:r>
                        <a:rPr lang="en-US" sz="2800" dirty="0"/>
                        <a:t>0.86</a:t>
                      </a:r>
                      <a:endParaRPr lang="en-US" sz="2800" dirty="0"/>
                    </a:p>
                  </a:txBody>
                  <a:tcPr marL="60000" marR="60000" marT="18000" marB="18000" anchor="ctr">
                    <a:lnL>
                      <a:noFill/>
                    </a:lnL>
                    <a:lnR>
                      <a:noFill/>
                    </a:lnR>
                    <a:lnT>
                      <a:noFill/>
                    </a:lnT>
                    <a:lnB>
                      <a:noFill/>
                    </a:lnB>
                    <a:noFill/>
                  </a:tcPr>
                </a:tc>
                <a:tc>
                  <a:txBody>
                    <a:bodyPr/>
                    <a:lstStyle/>
                    <a:p>
                      <a:pPr algn="ctr"/>
                      <a:r>
                        <a:rPr lang="en-US" sz="2800" dirty="0"/>
                        <a:t>0.66 (0.21–2.05)</a:t>
                      </a:r>
                      <a:endParaRPr lang="en-US" sz="2800" dirty="0"/>
                    </a:p>
                  </a:txBody>
                  <a:tcPr marL="60000" marR="60000" marT="18000" marB="18000" anchor="ctr">
                    <a:lnL>
                      <a:noFill/>
                    </a:lnL>
                    <a:lnR>
                      <a:noFill/>
                    </a:lnR>
                    <a:lnT>
                      <a:noFill/>
                    </a:lnT>
                    <a:lnB>
                      <a:noFill/>
                    </a:lnB>
                    <a:noFill/>
                  </a:tcPr>
                </a:tc>
                <a:tc>
                  <a:txBody>
                    <a:bodyPr/>
                    <a:lstStyle/>
                    <a:p>
                      <a:pPr algn="ctr"/>
                      <a:r>
                        <a:rPr lang="en-US" sz="2800" dirty="0"/>
                        <a:t>0.47</a:t>
                      </a:r>
                      <a:endParaRPr lang="en-US" sz="2800" dirty="0"/>
                    </a:p>
                  </a:txBody>
                  <a:tcPr marL="60000" marR="60000" marT="18000" marB="18000" anchor="ctr">
                    <a:lnL>
                      <a:noFill/>
                    </a:lnL>
                    <a:lnR>
                      <a:noFill/>
                    </a:lnR>
                    <a:lnT>
                      <a:noFill/>
                    </a:lnT>
                    <a:lnB>
                      <a:noFill/>
                    </a:lnB>
                    <a:noFill/>
                  </a:tcPr>
                </a:tc>
                <a:tc>
                  <a:txBody>
                    <a:bodyPr/>
                    <a:lstStyle/>
                    <a:p>
                      <a:pPr algn="ctr"/>
                      <a:r>
                        <a:rPr lang="en-US" sz="2800" dirty="0"/>
                        <a:t>0.51</a:t>
                      </a:r>
                      <a:endParaRPr lang="en-US" sz="2800" dirty="0"/>
                    </a:p>
                  </a:txBody>
                  <a:tcPr marL="60000" marR="60000" marT="18000" marB="18000" anchor="ctr">
                    <a:lnL>
                      <a:noFill/>
                    </a:lnL>
                    <a:lnR>
                      <a:noFill/>
                    </a:lnR>
                    <a:lnT>
                      <a:noFill/>
                    </a:lnT>
                    <a:lnB>
                      <a:noFill/>
                    </a:lnB>
                    <a:noFill/>
                  </a:tcPr>
                </a:tc>
              </a:tr>
              <a:tr h="548640">
                <a:tc gridSpan="7">
                  <a:txBody>
                    <a:bodyPr/>
                    <a:lstStyle/>
                    <a:p>
                      <a:pPr algn="l"/>
                      <a:r>
                        <a:rPr lang="en-US" sz="2800" b="1" dirty="0"/>
                        <a:t>Exploratory TLR responder model (week-9 landmark, adjusted)†</a:t>
                      </a:r>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c hMerge="1">
                  <a:txBody>
                    <a:bodyPr/>
                    <a:lstStyle/>
                    <a:p>
                      <a:endParaRPr lang="en-US" sz="2800" dirty="0"/>
                    </a:p>
                  </a:txBody>
                  <a:tcPr marL="60000" marR="60000" marT="18000" marB="18000" anchor="ctr">
                    <a:lnL>
                      <a:noFill/>
                    </a:lnL>
                    <a:lnR>
                      <a:noFill/>
                    </a:lnR>
                    <a:lnT>
                      <a:noFill/>
                    </a:lnT>
                    <a:lnB>
                      <a:noFill/>
                    </a:lnB>
                    <a:solidFill>
                      <a:srgbClr val="EFEFEF"/>
                    </a:solidFill>
                  </a:tcPr>
                </a:tc>
              </a:tr>
              <a:tr h="548640">
                <a:tc>
                  <a:txBody>
                    <a:bodyPr/>
                    <a:lstStyle/>
                    <a:p>
                      <a:pPr algn="l"/>
                      <a:r>
                        <a:rPr lang="en-US" sz="2800" dirty="0"/>
                        <a:t>TLR × treatment</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2.47 (0.75–7.75)</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0.14</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1.88 (0.52–6.38)</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0.33</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a:t>
                      </a:r>
                      <a:endParaRPr lang="en-US" sz="2800" dirty="0"/>
                    </a:p>
                  </a:txBody>
                  <a:tcPr marL="60000" marR="60000" marT="18000" marB="18000" anchor="ctr">
                    <a:lnL>
                      <a:noFill/>
                    </a:lnL>
                    <a:lnR>
                      <a:noFill/>
                    </a:lnR>
                    <a:lnT>
                      <a:noFill/>
                    </a:lnT>
                    <a:lnB w="19050" cap="flat" cmpd="sng" algn="ctr">
                      <a:solidFill>
                        <a:srgbClr val="000000"/>
                      </a:solidFill>
                      <a:prstDash val="solid"/>
                      <a:round/>
                    </a:lnB>
                    <a:noFill/>
                  </a:tcPr>
                </a:tc>
              </a:tr>
            </a:tbl>
          </a:graphicData>
        </a:graphic>
      </p:graphicFrame>
      <p:sp>
        <p:nvSpPr>
          <p:cNvPr id="114" name="Table 1 footnote"/>
          <p:cNvSpPr/>
          <p:nvPr/>
        </p:nvSpPr>
        <p:spPr>
          <a:xfrm>
            <a:off x="30056328" y="13103352"/>
            <a:ext cx="20775168" cy="187452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lIns="109728" rIns="109728" rtlCol="0" anchor="ctr">
            <a:noAutofit/>
          </a:bodyPr>
          <a:lstStyle/>
          <a:p>
            <a:r>
              <a:rPr lang="en-US" sz="2400" b="1" dirty="0"/>
              <a:t xml:space="preserve">Unified model: </a:t>
            </a:r>
            <a:r>
              <a:rPr lang="en-US" sz="2400" dirty="0"/>
              <a:t>age + sex + treatment + CRP + TMB/</a:t>
            </a:r>
            <a:r>
              <a:rPr lang="en-US" sz="2400" i="1" dirty="0"/>
              <a:t>BRAF</a:t>
            </a:r>
            <a:r>
              <a:rPr lang="en-US" sz="2400" dirty="0"/>
              <a:t xml:space="preserve"> + CRP × treatment + TMB/</a:t>
            </a:r>
            <a:r>
              <a:rPr lang="en-US" sz="2400" i="1" dirty="0"/>
              <a:t>BRAF</a:t>
            </a:r>
            <a:r>
              <a:rPr lang="en-US" sz="2400" dirty="0"/>
              <a:t xml:space="preserve"> × treatment; p = penalized likelihood-ratio test. </a:t>
            </a:r>
            <a:r>
              <a:rPr lang="en-US" sz="2400" b="1" dirty="0"/>
              <a:t xml:space="preserve">Ridge: </a:t>
            </a:r>
            <a:r>
              <a:rPr lang="en-US" sz="2400" dirty="0"/>
              <a:t xml:space="preserve">L2-penalized Cox regression (biomarker main effects penalized, 10-fold cross-validated lambda), point estimates only. </a:t>
            </a:r>
            <a:r>
              <a:rPr lang="en-US" sz="2400" b="1" dirty="0"/>
              <a:t>†</a:t>
            </a:r>
            <a:r>
              <a:rPr lang="en-US" sz="2400" dirty="0"/>
              <a:t>TLR-classified patients (n = 65); time measured from the week-9 landmark (OS cohort n = 65, PFS cohort n = 60). The responder model is adjusted for age, sex, CRP and TMB/</a:t>
            </a:r>
            <a:r>
              <a:rPr lang="en-US" sz="2400" i="1" dirty="0"/>
              <a:t>BRAF</a:t>
            </a:r>
            <a:r>
              <a:rPr lang="en-US" sz="2400" dirty="0"/>
              <a:t xml:space="preserve">; because TLR is measured after randomization, its interaction is a responder-stratified contrast, not a treatment-selection estimate. </a:t>
            </a:r>
            <a:r>
              <a:rPr lang="en-US" sz="2400" b="1" dirty="0"/>
              <a:t>CI</a:t>
            </a:r>
            <a:r>
              <a:rPr lang="en-US" sz="2400" dirty="0"/>
              <a:t xml:space="preserve">, confidence interval; </a:t>
            </a:r>
            <a:r>
              <a:rPr lang="en-US" sz="2400" b="1" dirty="0"/>
              <a:t>CRP</a:t>
            </a:r>
            <a:r>
              <a:rPr lang="en-US" sz="2400" dirty="0"/>
              <a:t xml:space="preserve">, C-reactive protein; </a:t>
            </a:r>
            <a:r>
              <a:rPr lang="en-US" sz="2400" b="1" dirty="0"/>
              <a:t>HR</a:t>
            </a:r>
            <a:r>
              <a:rPr lang="en-US" sz="2400" dirty="0"/>
              <a:t xml:space="preserve">, hazard ratio; </a:t>
            </a:r>
            <a:r>
              <a:rPr lang="en-US" sz="2400" b="1" dirty="0"/>
              <a:t>TLR</a:t>
            </a:r>
            <a:r>
              <a:rPr lang="en-US" sz="2400" dirty="0"/>
              <a:t xml:space="preserve">, tumor lesion reduction; </a:t>
            </a:r>
            <a:r>
              <a:rPr lang="en-US" sz="2400" b="1" dirty="0"/>
              <a:t>TMB</a:t>
            </a:r>
            <a:r>
              <a:rPr lang="en-US" sz="2400" dirty="0"/>
              <a:t>, tumor mutational burden.</a:t>
            </a:r>
            <a:endParaRPr lang="en-US" sz="2400" dirty="0"/>
          </a:p>
        </p:txBody>
      </p:sp>
      <p:pic>
        <p:nvPicPr>
          <p:cNvPr id="115" name="Figure 2 Kaplan-Meier" descr="Kaplan-Meier curves by biomarker status and treatment arm"/>
          <p:cNvPicPr>
            <a:picLocks noChangeAspect="1"/>
          </p:cNvPicPr>
          <p:nvPr/>
        </p:nvPicPr>
        <p:blipFill>
          <a:blip r:embed="rId5"/>
          <a:stretch>
            <a:fillRect/>
          </a:stretch>
        </p:blipFill>
        <p:spPr>
          <a:xfrm>
            <a:off x="30511496" y="15206472"/>
            <a:ext cx="19864832" cy="11173968"/>
          </a:xfrm>
          <a:prstGeom prst="rect">
            <a:avLst/>
          </a:prstGeom>
        </p:spPr>
      </p:pic>
      <p:sp>
        <p:nvSpPr>
          <p:cNvPr id="116" name="Conclusion header"/>
          <p:cNvSpPr/>
          <p:nvPr/>
        </p:nvSpPr>
        <p:spPr>
          <a:xfrm>
            <a:off x="365760" y="26654760"/>
            <a:ext cx="50502312" cy="868680"/>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5400" b="1" dirty="0">
                <a:solidFill>
                  <a:prstClr val="white"/>
                </a:solidFill>
                <a:latin typeface="Calibri" panose="020F0502020204030204"/>
                <a:ea typeface="+mn-ea"/>
                <a:cs typeface="+mn-cs"/>
              </a:rPr>
              <a:t>Conclusion</a:t>
            </a:r>
          </a:p>
        </p:txBody>
      </p:sp>
      <p:sp>
        <p:nvSpPr>
          <p:cNvPr id="117" name="Conclusion box"/>
          <p:cNvSpPr/>
          <p:nvPr/>
        </p:nvSpPr>
        <p:spPr>
          <a:xfrm>
            <a:off x="365760" y="27706320"/>
            <a:ext cx="50502312" cy="201168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algn="ctr"/>
            <a:r>
              <a:rPr lang="en-US" sz="4400" b="1" dirty="0"/>
              <a:t>In this causally structured exploratory analysis, biomarker signals in MSS/pMMR mCRC were predominantly prognostic rather than predictive. The CRP × treatment interaction for PFS warrants evaluation in adequately powered prospective studies. The causal framework offers a template for transparent post hoc biomarker analysis of phase-2 trials.</a:t>
            </a:r>
          </a:p>
        </p:txBody>
      </p:sp>
      <p:pic>
        <p:nvPicPr>
          <p:cNvPr id="118" name="Ahus logo" descr="Akershus University Hospital Cancer Center logo"/>
          <p:cNvPicPr>
            <a:picLocks noChangeAspect="1"/>
          </p:cNvPicPr>
          <p:nvPr/>
        </p:nvPicPr>
        <p:blipFill>
          <a:blip r:embed="rId4"/>
          <a:srcRect b="50329"/>
          <a:stretch>
            <a:fillRect/>
          </a:stretch>
        </p:blipFill>
        <p:spPr>
          <a:xfrm>
            <a:off x="338328" y="29983176"/>
            <a:ext cx="9272016" cy="1197864"/>
          </a:xfrm>
          <a:prstGeom prst="rect">
            <a:avLst/>
          </a:prstGeom>
        </p:spPr>
      </p:pic>
      <p:sp>
        <p:nvSpPr>
          <p:cNvPr id="119" name="Disclosure and funding"/>
          <p:cNvSpPr txBox="1"/>
          <p:nvPr/>
        </p:nvSpPr>
        <p:spPr>
          <a:xfrm>
            <a:off x="9966960" y="29809440"/>
            <a:ext cx="24963120" cy="1463040"/>
          </a:xfrm>
          <a:prstGeom prst="rect">
            <a:avLst/>
          </a:prstGeom>
          <a:noFill/>
        </p:spPr>
        <p:txBody>
          <a:bodyPr wrap="square" rtlCol="0" anchor="ctr">
            <a:noAutofit/>
          </a:bodyPr>
          <a:lstStyle/>
          <a:p>
            <a:r>
              <a:rPr lang="en-US" sz="2400" b="1" dirty="0"/>
              <a:t xml:space="preserve">Disclosure: </a:t>
            </a:r>
            <a:r>
              <a:rPr lang="en-US" sz="2400" dirty="0"/>
              <a:t xml:space="preserve">B.P. Geisler has no potential conflicts of interest to declare. </a:t>
            </a:r>
            <a:r>
              <a:rPr lang="en-US" sz="2400" b="1" dirty="0"/>
              <a:t xml:space="preserve">Funding: </a:t>
            </a:r>
            <a:r>
              <a:rPr lang="en-US" sz="2400" dirty="0"/>
              <a:t>Study sponsored by European Union, Research Council of Norway, Norwegian Cancer Society, South-Eastern Regional Health Authority, and Bristol-Myers Squibb and Sigma2 AS (in-kind donations). Views and opinions expressed are, however, those of the authors only and do not necessarily reflect those of the European Union or the European Health and Digital Executive Agency (HaDEA).</a:t>
            </a:r>
          </a:p>
        </p:txBody>
      </p:sp>
      <p:sp>
        <p:nvSpPr>
          <p:cNvPr id="120" name="Email"/>
          <p:cNvSpPr txBox="1"/>
          <p:nvPr/>
        </p:nvSpPr>
        <p:spPr>
          <a:xfrm>
            <a:off x="35021520" y="29919168"/>
            <a:ext cx="9509760" cy="822960"/>
          </a:xfrm>
          <a:prstGeom prst="rect">
            <a:avLst/>
          </a:prstGeom>
          <a:noFill/>
        </p:spPr>
        <p:txBody>
          <a:bodyPr wrap="square" rtlCol="0" anchor="ctr">
            <a:noAutofit/>
          </a:bodyPr>
          <a:lstStyle/>
          <a:p>
            <a:r>
              <a:rPr lang="en-US" sz="4400" b="1" baseline="30000" dirty="0"/>
              <a:t xml:space="preserve">@ </a:t>
            </a:r>
            <a:r>
              <a:rPr lang="en-US" sz="4400" b="1" dirty="0"/>
              <a:t>b.p.geisler@medisin.uio.no</a:t>
            </a:r>
          </a:p>
        </p:txBody>
      </p:sp>
      <p:pic>
        <p:nvPicPr>
          <p:cNvPr id="121" name="UiO logo" descr="University of Oslo logo"/>
          <p:cNvPicPr>
            <a:picLocks noChangeAspect="1"/>
          </p:cNvPicPr>
          <p:nvPr/>
        </p:nvPicPr>
        <p:blipFill>
          <a:blip r:embed="rId3"/>
          <a:stretch>
            <a:fillRect/>
          </a:stretch>
        </p:blipFill>
        <p:spPr>
          <a:xfrm>
            <a:off x="44686728" y="29910024"/>
            <a:ext cx="6163056" cy="1033272"/>
          </a:xfrm>
          <a:prstGeom prst="rect">
            <a:avLst/>
          </a:prstGeom>
        </p:spPr>
      </p:pic>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463b6811-b0a4-4b2a-b932-72c4c970c5d2}" enabled="0" method="" siteId="{463b6811-b0a4-4b2a-b932-72c4c970c5d2}" removed="1"/>
</clbl:labelList>
</file>

<file path=docProps/app.xml><?xml version="1.0" encoding="utf-8"?>
<Properties xmlns="http://schemas.openxmlformats.org/officeDocument/2006/extended-properties" xmlns:vt="http://schemas.openxmlformats.org/officeDocument/2006/docPropsVTypes">
  <Template>Office 2013 - 2022 Theme</Template>
  <TotalTime>29659</TotalTime>
  <Words>1384</Words>
  <Application>Microsoft Office PowerPoint</Application>
  <PresentationFormat>Custom</PresentationFormat>
  <Paragraphs>520</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Courier New</vt:lpstr>
      <vt:lpstr>Office 2013 - 2022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ESMO 2026 poster 4355P: Biomarker signals in MSS/pMMR mCRC are predominantly prognostic, not predictive (METIMMOX)</dc:title>
  <dc:creator>Sebastian Meltzer</dc:creator>
  <cp:lastModifiedBy>Benjamin Peter Geisler</cp:lastModifiedBy>
  <cp:revision>185</cp:revision>
  <dcterms:created xsi:type="dcterms:W3CDTF">2022-02-28T12:37:06Z</dcterms:created>
  <dcterms:modified xsi:type="dcterms:W3CDTF">2026-09-18T07:53:26Z</dcterms:modified>
</cp:coreProperties>
</file>